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50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6858000" y="0"/>
            <a:ext cx="3657600" cy="5143500"/>
          </a:xfrm>
          <a:prstGeom prst="rect">
            <a:avLst/>
          </a:prstGeom>
          <a:solidFill>
            <a:srgbClr val="1A5C8A">
              <a:alpha val="25000"/>
            </a:srgbClr>
          </a:solidFill>
          <a:ln w="12700">
            <a:solidFill>
              <a:srgbClr val="1A5C8A">
                <a:alpha val="25000"/>
              </a:srgbClr>
            </a:solidFill>
            <a:prstDash val="solid"/>
          </a:ln>
        </p:spPr>
        <p:txBody>
          <a:bodyPr/>
          <a:lstStyle/>
          <a:p>
            <a:endParaRPr lang="fr-FR" dirty="0"/>
          </a:p>
        </p:txBody>
      </p:sp>
      <p:sp>
        <p:nvSpPr>
          <p:cNvPr id="3" name="Shape 1"/>
          <p:cNvSpPr/>
          <p:nvPr/>
        </p:nvSpPr>
        <p:spPr>
          <a:xfrm>
            <a:off x="7132320" y="3200400"/>
            <a:ext cx="3200400" cy="3200400"/>
          </a:xfrm>
          <a:prstGeom prst="ellipse">
            <a:avLst/>
          </a:prstGeom>
          <a:solidFill>
            <a:srgbClr val="0E8C8C">
              <a:alpha val="15000"/>
            </a:srgbClr>
          </a:solidFill>
          <a:ln w="12700">
            <a:solidFill>
              <a:srgbClr val="0E8C8C">
                <a:alpha val="15000"/>
              </a:srgbClr>
            </a:solidFill>
            <a:prstDash val="solid"/>
          </a:ln>
        </p:spPr>
        <p:txBody>
          <a:bodyPr/>
          <a:lstStyle/>
          <a:p>
            <a:endParaRPr lang="fr-FR" dirty="0"/>
          </a:p>
        </p:txBody>
      </p:sp>
      <p:sp>
        <p:nvSpPr>
          <p:cNvPr id="4" name="Text 2"/>
          <p:cNvSpPr/>
          <p:nvPr/>
        </p:nvSpPr>
        <p:spPr>
          <a:xfrm>
            <a:off x="914400" y="640080"/>
            <a:ext cx="7315200" cy="320040"/>
          </a:xfrm>
          <a:prstGeom prst="rect">
            <a:avLst/>
          </a:prstGeom>
          <a:noFill/>
          <a:ln/>
        </p:spPr>
        <p:txBody>
          <a:bodyPr wrap="square" lIns="0" tIns="0" rIns="0" bIns="0" rtlCol="0" anchor="ctr"/>
          <a:lstStyle/>
          <a:p>
            <a:pPr marL="0" indent="0" algn="ctr">
              <a:buNone/>
            </a:pPr>
            <a:r>
              <a:rPr lang="en-US" sz="1000" b="1" kern="0" spc="400" dirty="0">
                <a:solidFill>
                  <a:srgbClr val="4DB8D4"/>
                </a:solidFill>
                <a:latin typeface="Calibri" pitchFamily="34" charset="0"/>
                <a:ea typeface="Calibri" pitchFamily="34" charset="-122"/>
                <a:cs typeface="Calibri" pitchFamily="34" charset="-120"/>
              </a:rPr>
              <a:t>ANALYSE DES DONNÉES TÉLÉMATIQUES</a:t>
            </a:r>
            <a:endParaRPr lang="en-US" sz="1000" dirty="0"/>
          </a:p>
        </p:txBody>
      </p:sp>
      <p:sp>
        <p:nvSpPr>
          <p:cNvPr id="5" name="Text 3"/>
          <p:cNvSpPr/>
          <p:nvPr/>
        </p:nvSpPr>
        <p:spPr>
          <a:xfrm>
            <a:off x="731520" y="1005840"/>
            <a:ext cx="7680960" cy="146304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Modélisation des Sinistres</a:t>
            </a:r>
            <a:endParaRPr lang="en-US" sz="3400" dirty="0"/>
          </a:p>
          <a:p>
            <a:pPr marL="0" indent="0" algn="ctr">
              <a:buNone/>
            </a:pPr>
            <a:r>
              <a:rPr lang="en-US" sz="3400" b="1" dirty="0">
                <a:solidFill>
                  <a:srgbClr val="FFFFFF"/>
                </a:solidFill>
                <a:latin typeface="Calibri" pitchFamily="34" charset="0"/>
                <a:ea typeface="Calibri" pitchFamily="34" charset="-122"/>
                <a:cs typeface="Calibri" pitchFamily="34" charset="-120"/>
              </a:rPr>
              <a:t>en Assurance Automobile UBI</a:t>
            </a:r>
            <a:endParaRPr lang="en-US" sz="3400" dirty="0"/>
          </a:p>
        </p:txBody>
      </p:sp>
      <p:sp>
        <p:nvSpPr>
          <p:cNvPr id="6" name="Shape 4"/>
          <p:cNvSpPr/>
          <p:nvPr/>
        </p:nvSpPr>
        <p:spPr>
          <a:xfrm>
            <a:off x="2286000" y="2560320"/>
            <a:ext cx="4572000" cy="0"/>
          </a:xfrm>
          <a:prstGeom prst="line">
            <a:avLst/>
          </a:prstGeom>
          <a:noFill/>
          <a:ln w="25400">
            <a:solidFill>
              <a:srgbClr val="0E8C8C"/>
            </a:solidFill>
            <a:prstDash val="solid"/>
          </a:ln>
        </p:spPr>
        <p:txBody>
          <a:bodyPr/>
          <a:lstStyle/>
          <a:p>
            <a:endParaRPr lang="fr-FR" dirty="0"/>
          </a:p>
        </p:txBody>
      </p:sp>
      <p:sp>
        <p:nvSpPr>
          <p:cNvPr id="7" name="Text 5"/>
          <p:cNvSpPr/>
          <p:nvPr/>
        </p:nvSpPr>
        <p:spPr>
          <a:xfrm>
            <a:off x="731520" y="2651760"/>
            <a:ext cx="7680960" cy="594360"/>
          </a:xfrm>
          <a:prstGeom prst="rect">
            <a:avLst/>
          </a:prstGeom>
          <a:noFill/>
          <a:ln/>
        </p:spPr>
        <p:txBody>
          <a:bodyPr wrap="square" lIns="0" tIns="0" rIns="0" bIns="0" rtlCol="0" anchor="ctr"/>
          <a:lstStyle/>
          <a:p>
            <a:pPr marL="0" indent="0" algn="ctr">
              <a:buNone/>
            </a:pPr>
            <a:r>
              <a:rPr lang="en-US" sz="1200" dirty="0">
                <a:solidFill>
                  <a:srgbClr val="4DB8D4"/>
                </a:solidFill>
                <a:latin typeface="Calibri" pitchFamily="34" charset="0"/>
                <a:ea typeface="Calibri" pitchFamily="34" charset="-122"/>
                <a:cs typeface="Calibri" pitchFamily="34" charset="-120"/>
              </a:rPr>
              <a:t>Étude exploratoire, nettoyage et modélisation</a:t>
            </a:r>
            <a:endParaRPr lang="en-US" sz="1200" dirty="0"/>
          </a:p>
          <a:p>
            <a:pPr marL="0" indent="0" algn="ctr">
              <a:buNone/>
            </a:pPr>
            <a:r>
              <a:rPr lang="en-US" sz="1200" dirty="0">
                <a:solidFill>
                  <a:srgbClr val="4DB8D4"/>
                </a:solidFill>
                <a:latin typeface="Calibri" pitchFamily="34" charset="0"/>
                <a:ea typeface="Calibri" pitchFamily="34" charset="-122"/>
                <a:cs typeface="Calibri" pitchFamily="34" charset="-120"/>
              </a:rPr>
              <a:t>d'un portefeuille télématique synthétique (100 000 contrats) — 7 Phases</a:t>
            </a:r>
            <a:endParaRPr lang="en-US" sz="1200" dirty="0"/>
          </a:p>
        </p:txBody>
      </p:sp>
      <p:sp>
        <p:nvSpPr>
          <p:cNvPr id="8" name="Shape 6"/>
          <p:cNvSpPr/>
          <p:nvPr/>
        </p:nvSpPr>
        <p:spPr>
          <a:xfrm>
            <a:off x="457200" y="3429000"/>
            <a:ext cx="1554480" cy="804672"/>
          </a:xfrm>
          <a:prstGeom prst="rect">
            <a:avLst/>
          </a:prstGeom>
          <a:solidFill>
            <a:srgbClr val="FFFFFF">
              <a:alpha val="15000"/>
            </a:srgbClr>
          </a:solidFill>
          <a:ln w="12700">
            <a:solidFill>
              <a:srgbClr val="0E8C8C"/>
            </a:solidFill>
            <a:prstDash val="solid"/>
          </a:ln>
        </p:spPr>
        <p:txBody>
          <a:bodyPr/>
          <a:lstStyle/>
          <a:p>
            <a:endParaRPr lang="fr-FR" dirty="0"/>
          </a:p>
        </p:txBody>
      </p:sp>
      <p:sp>
        <p:nvSpPr>
          <p:cNvPr id="9" name="Text 7"/>
          <p:cNvSpPr/>
          <p:nvPr/>
        </p:nvSpPr>
        <p:spPr>
          <a:xfrm>
            <a:off x="457200" y="3502152"/>
            <a:ext cx="1554480" cy="411480"/>
          </a:xfrm>
          <a:prstGeom prst="rect">
            <a:avLst/>
          </a:prstGeom>
          <a:noFill/>
          <a:ln/>
        </p:spPr>
        <p:txBody>
          <a:bodyPr wrap="square" lIns="0" tIns="0" rIns="0" bIns="0" rtlCol="0" anchor="ctr"/>
          <a:lstStyle/>
          <a:p>
            <a:pPr marL="0" indent="0" algn="ctr">
              <a:buNone/>
            </a:pPr>
            <a:r>
              <a:rPr lang="en-US" sz="2000" b="1" dirty="0">
                <a:solidFill>
                  <a:srgbClr val="0E8C8C"/>
                </a:solidFill>
                <a:latin typeface="Calibri" pitchFamily="34" charset="0"/>
                <a:ea typeface="Calibri" pitchFamily="34" charset="-122"/>
                <a:cs typeface="Calibri" pitchFamily="34" charset="-120"/>
              </a:rPr>
              <a:t>100 000</a:t>
            </a:r>
            <a:endParaRPr lang="en-US" sz="2000" dirty="0"/>
          </a:p>
        </p:txBody>
      </p:sp>
      <p:sp>
        <p:nvSpPr>
          <p:cNvPr id="10" name="Text 8"/>
          <p:cNvSpPr/>
          <p:nvPr/>
        </p:nvSpPr>
        <p:spPr>
          <a:xfrm>
            <a:off x="457200" y="3931920"/>
            <a:ext cx="1554480" cy="22860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Contrats analysés</a:t>
            </a:r>
            <a:endParaRPr lang="en-US" sz="900" dirty="0"/>
          </a:p>
        </p:txBody>
      </p:sp>
      <p:sp>
        <p:nvSpPr>
          <p:cNvPr id="11" name="Shape 9"/>
          <p:cNvSpPr/>
          <p:nvPr/>
        </p:nvSpPr>
        <p:spPr>
          <a:xfrm>
            <a:off x="2121408" y="3429000"/>
            <a:ext cx="1554480" cy="804672"/>
          </a:xfrm>
          <a:prstGeom prst="rect">
            <a:avLst/>
          </a:prstGeom>
          <a:solidFill>
            <a:srgbClr val="FFFFFF">
              <a:alpha val="15000"/>
            </a:srgbClr>
          </a:solidFill>
          <a:ln w="12700">
            <a:solidFill>
              <a:srgbClr val="0E8C8C"/>
            </a:solidFill>
            <a:prstDash val="solid"/>
          </a:ln>
        </p:spPr>
        <p:txBody>
          <a:bodyPr/>
          <a:lstStyle/>
          <a:p>
            <a:endParaRPr lang="fr-FR" dirty="0"/>
          </a:p>
        </p:txBody>
      </p:sp>
      <p:sp>
        <p:nvSpPr>
          <p:cNvPr id="12" name="Text 10"/>
          <p:cNvSpPr/>
          <p:nvPr/>
        </p:nvSpPr>
        <p:spPr>
          <a:xfrm>
            <a:off x="2121408" y="3502152"/>
            <a:ext cx="1554480" cy="411480"/>
          </a:xfrm>
          <a:prstGeom prst="rect">
            <a:avLst/>
          </a:prstGeom>
          <a:noFill/>
          <a:ln/>
        </p:spPr>
        <p:txBody>
          <a:bodyPr wrap="square" lIns="0" tIns="0" rIns="0" bIns="0" rtlCol="0" anchor="ctr"/>
          <a:lstStyle/>
          <a:p>
            <a:pPr marL="0" indent="0" algn="ctr">
              <a:buNone/>
            </a:pPr>
            <a:r>
              <a:rPr lang="en-US" sz="2000" b="1" dirty="0">
                <a:solidFill>
                  <a:srgbClr val="0E8C8C"/>
                </a:solidFill>
                <a:latin typeface="Calibri" pitchFamily="34" charset="0"/>
                <a:ea typeface="Calibri" pitchFamily="34" charset="-122"/>
                <a:cs typeface="Calibri" pitchFamily="34" charset="-120"/>
              </a:rPr>
              <a:t>52</a:t>
            </a:r>
            <a:endParaRPr lang="en-US" sz="2000" dirty="0"/>
          </a:p>
        </p:txBody>
      </p:sp>
      <p:sp>
        <p:nvSpPr>
          <p:cNvPr id="13" name="Text 11"/>
          <p:cNvSpPr/>
          <p:nvPr/>
        </p:nvSpPr>
        <p:spPr>
          <a:xfrm>
            <a:off x="2121408" y="3931920"/>
            <a:ext cx="1554480" cy="22860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Variables</a:t>
            </a:r>
            <a:endParaRPr lang="en-US" sz="900" dirty="0"/>
          </a:p>
        </p:txBody>
      </p:sp>
      <p:sp>
        <p:nvSpPr>
          <p:cNvPr id="14" name="Shape 12"/>
          <p:cNvSpPr/>
          <p:nvPr/>
        </p:nvSpPr>
        <p:spPr>
          <a:xfrm>
            <a:off x="3785616" y="3429000"/>
            <a:ext cx="1554480" cy="804672"/>
          </a:xfrm>
          <a:prstGeom prst="rect">
            <a:avLst/>
          </a:prstGeom>
          <a:solidFill>
            <a:srgbClr val="FFFFFF">
              <a:alpha val="15000"/>
            </a:srgbClr>
          </a:solidFill>
          <a:ln w="12700">
            <a:solidFill>
              <a:srgbClr val="0E8C8C"/>
            </a:solidFill>
            <a:prstDash val="solid"/>
          </a:ln>
        </p:spPr>
        <p:txBody>
          <a:bodyPr/>
          <a:lstStyle/>
          <a:p>
            <a:endParaRPr lang="fr-FR" dirty="0"/>
          </a:p>
        </p:txBody>
      </p:sp>
      <p:sp>
        <p:nvSpPr>
          <p:cNvPr id="15" name="Text 13"/>
          <p:cNvSpPr/>
          <p:nvPr/>
        </p:nvSpPr>
        <p:spPr>
          <a:xfrm>
            <a:off x="3785616" y="3502152"/>
            <a:ext cx="1554480" cy="411480"/>
          </a:xfrm>
          <a:prstGeom prst="rect">
            <a:avLst/>
          </a:prstGeom>
          <a:noFill/>
          <a:ln/>
        </p:spPr>
        <p:txBody>
          <a:bodyPr wrap="square" lIns="0" tIns="0" rIns="0" bIns="0" rtlCol="0" anchor="ctr"/>
          <a:lstStyle/>
          <a:p>
            <a:pPr marL="0" indent="0" algn="ctr">
              <a:buNone/>
            </a:pPr>
            <a:r>
              <a:rPr lang="en-US" sz="2000" b="1" dirty="0">
                <a:solidFill>
                  <a:srgbClr val="0E8C8C"/>
                </a:solidFill>
                <a:latin typeface="Calibri" pitchFamily="34" charset="0"/>
                <a:ea typeface="Calibri" pitchFamily="34" charset="-122"/>
                <a:cs typeface="Calibri" pitchFamily="34" charset="-120"/>
              </a:rPr>
              <a:t>4,3 %</a:t>
            </a:r>
            <a:endParaRPr lang="en-US" sz="2000" dirty="0"/>
          </a:p>
        </p:txBody>
      </p:sp>
      <p:sp>
        <p:nvSpPr>
          <p:cNvPr id="16" name="Text 14"/>
          <p:cNvSpPr/>
          <p:nvPr/>
        </p:nvSpPr>
        <p:spPr>
          <a:xfrm>
            <a:off x="3785616" y="3931920"/>
            <a:ext cx="1554480" cy="22860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Taux sinistres</a:t>
            </a:r>
            <a:endParaRPr lang="en-US" sz="900" dirty="0"/>
          </a:p>
        </p:txBody>
      </p:sp>
      <p:sp>
        <p:nvSpPr>
          <p:cNvPr id="17" name="Shape 15"/>
          <p:cNvSpPr/>
          <p:nvPr/>
        </p:nvSpPr>
        <p:spPr>
          <a:xfrm>
            <a:off x="5449824" y="3429000"/>
            <a:ext cx="1554480" cy="804672"/>
          </a:xfrm>
          <a:prstGeom prst="rect">
            <a:avLst/>
          </a:prstGeom>
          <a:solidFill>
            <a:srgbClr val="FFFFFF">
              <a:alpha val="15000"/>
            </a:srgbClr>
          </a:solidFill>
          <a:ln w="12700">
            <a:solidFill>
              <a:srgbClr val="0E8C8C"/>
            </a:solidFill>
            <a:prstDash val="solid"/>
          </a:ln>
        </p:spPr>
        <p:txBody>
          <a:bodyPr/>
          <a:lstStyle/>
          <a:p>
            <a:endParaRPr lang="fr-FR" dirty="0"/>
          </a:p>
        </p:txBody>
      </p:sp>
      <p:sp>
        <p:nvSpPr>
          <p:cNvPr id="18" name="Text 16"/>
          <p:cNvSpPr/>
          <p:nvPr/>
        </p:nvSpPr>
        <p:spPr>
          <a:xfrm>
            <a:off x="5449824" y="3502152"/>
            <a:ext cx="1554480" cy="411480"/>
          </a:xfrm>
          <a:prstGeom prst="rect">
            <a:avLst/>
          </a:prstGeom>
          <a:noFill/>
          <a:ln/>
        </p:spPr>
        <p:txBody>
          <a:bodyPr wrap="square" lIns="0" tIns="0" rIns="0" bIns="0" rtlCol="0" anchor="ctr"/>
          <a:lstStyle/>
          <a:p>
            <a:pPr marL="0" indent="0" algn="ctr">
              <a:buNone/>
            </a:pPr>
            <a:r>
              <a:rPr lang="en-US" sz="2000" b="1" dirty="0">
                <a:solidFill>
                  <a:srgbClr val="0E8C8C"/>
                </a:solidFill>
                <a:latin typeface="Calibri" pitchFamily="34" charset="0"/>
                <a:ea typeface="Calibri" pitchFamily="34" charset="-122"/>
                <a:cs typeface="Calibri" pitchFamily="34" charset="-120"/>
              </a:rPr>
              <a:t>7</a:t>
            </a:r>
            <a:endParaRPr lang="en-US" sz="2000" dirty="0"/>
          </a:p>
        </p:txBody>
      </p:sp>
      <p:sp>
        <p:nvSpPr>
          <p:cNvPr id="19" name="Text 17"/>
          <p:cNvSpPr/>
          <p:nvPr/>
        </p:nvSpPr>
        <p:spPr>
          <a:xfrm>
            <a:off x="5449824" y="3931920"/>
            <a:ext cx="1554480" cy="22860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Phases</a:t>
            </a:r>
            <a:endParaRPr lang="en-US" sz="900" dirty="0"/>
          </a:p>
        </p:txBody>
      </p:sp>
      <p:sp>
        <p:nvSpPr>
          <p:cNvPr id="20" name="Shape 18"/>
          <p:cNvSpPr/>
          <p:nvPr/>
        </p:nvSpPr>
        <p:spPr>
          <a:xfrm>
            <a:off x="7114032" y="3429000"/>
            <a:ext cx="1554480" cy="804672"/>
          </a:xfrm>
          <a:prstGeom prst="rect">
            <a:avLst/>
          </a:prstGeom>
          <a:solidFill>
            <a:srgbClr val="FFFFFF">
              <a:alpha val="15000"/>
            </a:srgbClr>
          </a:solidFill>
          <a:ln w="12700">
            <a:solidFill>
              <a:srgbClr val="0E8C8C"/>
            </a:solidFill>
            <a:prstDash val="solid"/>
          </a:ln>
        </p:spPr>
        <p:txBody>
          <a:bodyPr/>
          <a:lstStyle/>
          <a:p>
            <a:endParaRPr lang="fr-FR" dirty="0"/>
          </a:p>
        </p:txBody>
      </p:sp>
      <p:sp>
        <p:nvSpPr>
          <p:cNvPr id="21" name="Text 19"/>
          <p:cNvSpPr/>
          <p:nvPr/>
        </p:nvSpPr>
        <p:spPr>
          <a:xfrm>
            <a:off x="7114032" y="3502152"/>
            <a:ext cx="1554480" cy="411480"/>
          </a:xfrm>
          <a:prstGeom prst="rect">
            <a:avLst/>
          </a:prstGeom>
          <a:noFill/>
          <a:ln/>
        </p:spPr>
        <p:txBody>
          <a:bodyPr wrap="square" lIns="0" tIns="0" rIns="0" bIns="0" rtlCol="0" anchor="ctr"/>
          <a:lstStyle/>
          <a:p>
            <a:pPr marL="0" indent="0" algn="ctr">
              <a:buNone/>
            </a:pPr>
            <a:r>
              <a:rPr lang="en-US" sz="2000" b="1" dirty="0">
                <a:solidFill>
                  <a:srgbClr val="0E8C8C"/>
                </a:solidFill>
                <a:latin typeface="Calibri" pitchFamily="34" charset="0"/>
                <a:ea typeface="Calibri" pitchFamily="34" charset="-122"/>
                <a:cs typeface="Calibri" pitchFamily="34" charset="-120"/>
              </a:rPr>
              <a:t>0,892</a:t>
            </a:r>
            <a:endParaRPr lang="en-US" sz="2000" dirty="0"/>
          </a:p>
        </p:txBody>
      </p:sp>
      <p:sp>
        <p:nvSpPr>
          <p:cNvPr id="22" name="Text 20"/>
          <p:cNvSpPr/>
          <p:nvPr/>
        </p:nvSpPr>
        <p:spPr>
          <a:xfrm>
            <a:off x="7114032" y="3931920"/>
            <a:ext cx="1554480" cy="22860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AUC XGBoost</a:t>
            </a:r>
            <a:endParaRPr lang="en-US" sz="900" dirty="0"/>
          </a:p>
        </p:txBody>
      </p:sp>
      <p:sp>
        <p:nvSpPr>
          <p:cNvPr id="23" name="Text 21"/>
          <p:cNvSpPr/>
          <p:nvPr/>
        </p:nvSpPr>
        <p:spPr>
          <a:xfrm>
            <a:off x="731520" y="4434840"/>
            <a:ext cx="7680960" cy="228600"/>
          </a:xfrm>
          <a:prstGeom prst="rect">
            <a:avLst/>
          </a:prstGeom>
          <a:noFill/>
          <a:ln/>
        </p:spPr>
        <p:txBody>
          <a:bodyPr wrap="square" lIns="0" tIns="0" rIns="0" bIns="0" rtlCol="0" anchor="ctr"/>
          <a:lstStyle/>
          <a:p>
            <a:pPr marL="0" indent="0" algn="ctr">
              <a:buNone/>
            </a:pPr>
            <a:r>
              <a:rPr lang="en-US" sz="900" dirty="0">
                <a:solidFill>
                  <a:srgbClr val="8499B0"/>
                </a:solidFill>
                <a:latin typeface="Calibri" pitchFamily="34" charset="0"/>
                <a:ea typeface="Calibri" pitchFamily="34" charset="-122"/>
                <a:cs typeface="Calibri" pitchFamily="34" charset="-120"/>
              </a:rPr>
              <a:t>Mars 2026 — Fatoumata / Rami / Eunice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Plan de la Présentation</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pPr marL="0" indent="0">
              <a:buNone/>
            </a:pPr>
            <a:r>
              <a:rPr lang="en-US" sz="1200" dirty="0">
                <a:solidFill>
                  <a:srgbClr val="1A5C8A"/>
                </a:solidFill>
                <a:latin typeface="Calibri" pitchFamily="34" charset="0"/>
                <a:ea typeface="Calibri" pitchFamily="34" charset="-122"/>
                <a:cs typeface="Calibri" pitchFamily="34" charset="-120"/>
              </a:rPr>
              <a:t>7 phases — de l'exploration à la production</a:t>
            </a:r>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6" name="Shape 4"/>
          <p:cNvSpPr/>
          <p:nvPr/>
        </p:nvSpPr>
        <p:spPr>
          <a:xfrm>
            <a:off x="411480" y="1188720"/>
            <a:ext cx="4114800" cy="640080"/>
          </a:xfrm>
          <a:prstGeom prst="rect">
            <a:avLst/>
          </a:prstGeom>
          <a:solidFill>
            <a:srgbClr val="FFFFFF"/>
          </a:solidFill>
          <a:ln w="1270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7" name="Shape 5"/>
          <p:cNvSpPr/>
          <p:nvPr/>
        </p:nvSpPr>
        <p:spPr>
          <a:xfrm>
            <a:off x="411480" y="1188720"/>
            <a:ext cx="457200" cy="640080"/>
          </a:xfrm>
          <a:prstGeom prst="rect">
            <a:avLst/>
          </a:prstGeom>
          <a:solidFill>
            <a:srgbClr val="1A5C8A"/>
          </a:solidFill>
          <a:ln w="12700">
            <a:solidFill>
              <a:srgbClr val="1A5C8A"/>
            </a:solidFill>
            <a:prstDash val="solid"/>
          </a:ln>
        </p:spPr>
        <p:txBody>
          <a:bodyPr/>
          <a:lstStyle/>
          <a:p>
            <a:endParaRPr lang="fr-FR" dirty="0"/>
          </a:p>
        </p:txBody>
      </p:sp>
      <p:sp>
        <p:nvSpPr>
          <p:cNvPr id="8" name="Text 6"/>
          <p:cNvSpPr/>
          <p:nvPr/>
        </p:nvSpPr>
        <p:spPr>
          <a:xfrm>
            <a:off x="411480" y="118872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9" name="Text 7"/>
          <p:cNvSpPr/>
          <p:nvPr/>
        </p:nvSpPr>
        <p:spPr>
          <a:xfrm>
            <a:off x="941832" y="1243584"/>
            <a:ext cx="3493008" cy="237744"/>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Contexte &amp; Objectifs</a:t>
            </a:r>
            <a:endParaRPr lang="en-US" sz="1100" dirty="0"/>
          </a:p>
        </p:txBody>
      </p:sp>
      <p:sp>
        <p:nvSpPr>
          <p:cNvPr id="10" name="Text 8"/>
          <p:cNvSpPr/>
          <p:nvPr/>
        </p:nvSpPr>
        <p:spPr>
          <a:xfrm>
            <a:off x="941832" y="151790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Prime pure, UBI, objectifs du projet</a:t>
            </a:r>
            <a:endParaRPr lang="en-US" sz="900" dirty="0"/>
          </a:p>
        </p:txBody>
      </p:sp>
      <p:sp>
        <p:nvSpPr>
          <p:cNvPr id="11" name="Shape 9"/>
          <p:cNvSpPr/>
          <p:nvPr/>
        </p:nvSpPr>
        <p:spPr>
          <a:xfrm>
            <a:off x="411480" y="1965960"/>
            <a:ext cx="4114800" cy="640080"/>
          </a:xfrm>
          <a:prstGeom prst="rect">
            <a:avLst/>
          </a:prstGeom>
          <a:solidFill>
            <a:srgbClr val="FFFFFF"/>
          </a:solidFill>
          <a:ln w="1270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12" name="Shape 10"/>
          <p:cNvSpPr/>
          <p:nvPr/>
        </p:nvSpPr>
        <p:spPr>
          <a:xfrm>
            <a:off x="411480" y="1965960"/>
            <a:ext cx="457200" cy="640080"/>
          </a:xfrm>
          <a:prstGeom prst="rect">
            <a:avLst/>
          </a:prstGeom>
          <a:solidFill>
            <a:srgbClr val="0E8C8C"/>
          </a:solidFill>
          <a:ln w="12700">
            <a:solidFill>
              <a:srgbClr val="0E8C8C"/>
            </a:solidFill>
            <a:prstDash val="solid"/>
          </a:ln>
        </p:spPr>
        <p:txBody>
          <a:bodyPr/>
          <a:lstStyle/>
          <a:p>
            <a:endParaRPr lang="fr-FR" dirty="0"/>
          </a:p>
        </p:txBody>
      </p:sp>
      <p:sp>
        <p:nvSpPr>
          <p:cNvPr id="13" name="Text 11"/>
          <p:cNvSpPr/>
          <p:nvPr/>
        </p:nvSpPr>
        <p:spPr>
          <a:xfrm>
            <a:off x="411480" y="196596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4" name="Text 12"/>
          <p:cNvSpPr/>
          <p:nvPr/>
        </p:nvSpPr>
        <p:spPr>
          <a:xfrm>
            <a:off x="941832" y="2020824"/>
            <a:ext cx="3493008" cy="237744"/>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Données &amp; Nettoyage</a:t>
            </a:r>
            <a:endParaRPr lang="en-US" sz="1100" dirty="0"/>
          </a:p>
        </p:txBody>
      </p:sp>
      <p:sp>
        <p:nvSpPr>
          <p:cNvPr id="15" name="Text 13"/>
          <p:cNvSpPr/>
          <p:nvPr/>
        </p:nvSpPr>
        <p:spPr>
          <a:xfrm>
            <a:off x="941832" y="229514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100 000 contrats, 52 variables, 5 corrections</a:t>
            </a:r>
            <a:endParaRPr lang="en-US" sz="900" dirty="0"/>
          </a:p>
        </p:txBody>
      </p:sp>
      <p:sp>
        <p:nvSpPr>
          <p:cNvPr id="16" name="Shape 14"/>
          <p:cNvSpPr/>
          <p:nvPr/>
        </p:nvSpPr>
        <p:spPr>
          <a:xfrm>
            <a:off x="411480" y="2743200"/>
            <a:ext cx="4114800" cy="640080"/>
          </a:xfrm>
          <a:prstGeom prst="rect">
            <a:avLst/>
          </a:prstGeom>
          <a:solidFill>
            <a:srgbClr val="FFFFFF"/>
          </a:solidFill>
          <a:ln w="1270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17" name="Shape 15"/>
          <p:cNvSpPr/>
          <p:nvPr/>
        </p:nvSpPr>
        <p:spPr>
          <a:xfrm>
            <a:off x="411480" y="2743200"/>
            <a:ext cx="457200" cy="640080"/>
          </a:xfrm>
          <a:prstGeom prst="rect">
            <a:avLst/>
          </a:prstGeom>
          <a:solidFill>
            <a:srgbClr val="1A5C8A"/>
          </a:solidFill>
          <a:ln w="12700">
            <a:solidFill>
              <a:srgbClr val="1A5C8A"/>
            </a:solidFill>
            <a:prstDash val="solid"/>
          </a:ln>
        </p:spPr>
        <p:txBody>
          <a:bodyPr/>
          <a:lstStyle/>
          <a:p>
            <a:endParaRPr lang="fr-FR" dirty="0"/>
          </a:p>
        </p:txBody>
      </p:sp>
      <p:sp>
        <p:nvSpPr>
          <p:cNvPr id="18" name="Text 16"/>
          <p:cNvSpPr/>
          <p:nvPr/>
        </p:nvSpPr>
        <p:spPr>
          <a:xfrm>
            <a:off x="411480" y="274320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9" name="Text 17"/>
          <p:cNvSpPr/>
          <p:nvPr/>
        </p:nvSpPr>
        <p:spPr>
          <a:xfrm>
            <a:off x="941832" y="2798064"/>
            <a:ext cx="3493008" cy="237744"/>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EDA &amp; Feature Engineering</a:t>
            </a:r>
            <a:endParaRPr lang="en-US" sz="1100" dirty="0"/>
          </a:p>
        </p:txBody>
      </p:sp>
      <p:sp>
        <p:nvSpPr>
          <p:cNvPr id="20" name="Text 18"/>
          <p:cNvSpPr/>
          <p:nvPr/>
        </p:nvSpPr>
        <p:spPr>
          <a:xfrm>
            <a:off x="941832" y="307238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Patterns clés, 3 variables dérivées</a:t>
            </a:r>
            <a:endParaRPr lang="en-US" sz="900" dirty="0"/>
          </a:p>
        </p:txBody>
      </p:sp>
      <p:sp>
        <p:nvSpPr>
          <p:cNvPr id="21" name="Shape 19"/>
          <p:cNvSpPr/>
          <p:nvPr/>
        </p:nvSpPr>
        <p:spPr>
          <a:xfrm>
            <a:off x="411480" y="3520440"/>
            <a:ext cx="4114800" cy="640080"/>
          </a:xfrm>
          <a:prstGeom prst="rect">
            <a:avLst/>
          </a:prstGeom>
          <a:solidFill>
            <a:srgbClr val="FFFFFF"/>
          </a:solidFill>
          <a:ln w="1270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22" name="Shape 20"/>
          <p:cNvSpPr/>
          <p:nvPr/>
        </p:nvSpPr>
        <p:spPr>
          <a:xfrm>
            <a:off x="411480" y="3520440"/>
            <a:ext cx="457200" cy="640080"/>
          </a:xfrm>
          <a:prstGeom prst="rect">
            <a:avLst/>
          </a:prstGeom>
          <a:solidFill>
            <a:srgbClr val="0E8C8C"/>
          </a:solidFill>
          <a:ln w="12700">
            <a:solidFill>
              <a:srgbClr val="0E8C8C"/>
            </a:solidFill>
            <a:prstDash val="solid"/>
          </a:ln>
        </p:spPr>
        <p:txBody>
          <a:bodyPr/>
          <a:lstStyle/>
          <a:p>
            <a:endParaRPr lang="fr-FR" dirty="0"/>
          </a:p>
        </p:txBody>
      </p:sp>
      <p:sp>
        <p:nvSpPr>
          <p:cNvPr id="23" name="Text 21"/>
          <p:cNvSpPr/>
          <p:nvPr/>
        </p:nvSpPr>
        <p:spPr>
          <a:xfrm>
            <a:off x="411480" y="352044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4" name="Text 22"/>
          <p:cNvSpPr/>
          <p:nvPr/>
        </p:nvSpPr>
        <p:spPr>
          <a:xfrm>
            <a:off x="941832" y="3575304"/>
            <a:ext cx="3493008" cy="237744"/>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Modélisation — Phases 1–3</a:t>
            </a:r>
            <a:endParaRPr lang="en-US" sz="1100" dirty="0"/>
          </a:p>
        </p:txBody>
      </p:sp>
      <p:sp>
        <p:nvSpPr>
          <p:cNvPr id="25" name="Text 23"/>
          <p:cNvSpPr/>
          <p:nvPr/>
        </p:nvSpPr>
        <p:spPr>
          <a:xfrm>
            <a:off x="941832" y="384962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Baselines, déséquilibre, plan factoriel 2×3</a:t>
            </a:r>
            <a:endParaRPr lang="en-US" sz="900" dirty="0"/>
          </a:p>
        </p:txBody>
      </p:sp>
      <p:sp>
        <p:nvSpPr>
          <p:cNvPr id="26" name="Shape 24"/>
          <p:cNvSpPr/>
          <p:nvPr/>
        </p:nvSpPr>
        <p:spPr>
          <a:xfrm>
            <a:off x="4754880" y="1188720"/>
            <a:ext cx="4114800" cy="640080"/>
          </a:xfrm>
          <a:prstGeom prst="rect">
            <a:avLst/>
          </a:prstGeom>
          <a:solidFill>
            <a:srgbClr val="FFFFFF"/>
          </a:solidFill>
          <a:ln w="1270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27" name="Shape 25"/>
          <p:cNvSpPr/>
          <p:nvPr/>
        </p:nvSpPr>
        <p:spPr>
          <a:xfrm>
            <a:off x="4754880" y="1188720"/>
            <a:ext cx="457200" cy="640080"/>
          </a:xfrm>
          <a:prstGeom prst="rect">
            <a:avLst/>
          </a:prstGeom>
          <a:solidFill>
            <a:srgbClr val="1A5C8A"/>
          </a:solidFill>
          <a:ln w="12700">
            <a:solidFill>
              <a:srgbClr val="1A5C8A"/>
            </a:solidFill>
            <a:prstDash val="solid"/>
          </a:ln>
        </p:spPr>
        <p:txBody>
          <a:bodyPr/>
          <a:lstStyle/>
          <a:p>
            <a:endParaRPr lang="fr-FR" dirty="0"/>
          </a:p>
        </p:txBody>
      </p:sp>
      <p:sp>
        <p:nvSpPr>
          <p:cNvPr id="28" name="Text 26"/>
          <p:cNvSpPr/>
          <p:nvPr/>
        </p:nvSpPr>
        <p:spPr>
          <a:xfrm>
            <a:off x="4754880" y="118872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9" name="Text 27"/>
          <p:cNvSpPr/>
          <p:nvPr/>
        </p:nvSpPr>
        <p:spPr>
          <a:xfrm>
            <a:off x="5285232" y="1243584"/>
            <a:ext cx="3493008" cy="237744"/>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Évaluation finale — Phase 4</a:t>
            </a:r>
            <a:endParaRPr lang="en-US" sz="1100" dirty="0"/>
          </a:p>
        </p:txBody>
      </p:sp>
      <p:sp>
        <p:nvSpPr>
          <p:cNvPr id="30" name="Text 28"/>
          <p:cNvSpPr/>
          <p:nvPr/>
        </p:nvSpPr>
        <p:spPr>
          <a:xfrm>
            <a:off x="5285232" y="151790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Test set, bootstrap CI, calibration</a:t>
            </a:r>
            <a:endParaRPr lang="en-US" sz="900" dirty="0"/>
          </a:p>
        </p:txBody>
      </p:sp>
      <p:sp>
        <p:nvSpPr>
          <p:cNvPr id="31" name="Shape 29"/>
          <p:cNvSpPr/>
          <p:nvPr/>
        </p:nvSpPr>
        <p:spPr>
          <a:xfrm>
            <a:off x="4754880" y="1965960"/>
            <a:ext cx="4114800" cy="640080"/>
          </a:xfrm>
          <a:prstGeom prst="rect">
            <a:avLst/>
          </a:prstGeom>
          <a:solidFill>
            <a:srgbClr val="FFFFFF"/>
          </a:solidFill>
          <a:ln w="1270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32" name="Shape 30"/>
          <p:cNvSpPr/>
          <p:nvPr/>
        </p:nvSpPr>
        <p:spPr>
          <a:xfrm>
            <a:off x="4754880" y="1965960"/>
            <a:ext cx="457200" cy="640080"/>
          </a:xfrm>
          <a:prstGeom prst="rect">
            <a:avLst/>
          </a:prstGeom>
          <a:solidFill>
            <a:srgbClr val="0E8C8C"/>
          </a:solidFill>
          <a:ln w="12700">
            <a:solidFill>
              <a:srgbClr val="0E8C8C"/>
            </a:solidFill>
            <a:prstDash val="solid"/>
          </a:ln>
        </p:spPr>
        <p:txBody>
          <a:bodyPr/>
          <a:lstStyle/>
          <a:p>
            <a:endParaRPr lang="fr-FR" dirty="0"/>
          </a:p>
        </p:txBody>
      </p:sp>
      <p:sp>
        <p:nvSpPr>
          <p:cNvPr id="33" name="Text 31"/>
          <p:cNvSpPr/>
          <p:nvPr/>
        </p:nvSpPr>
        <p:spPr>
          <a:xfrm>
            <a:off x="4754880" y="196596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4" name="Text 32"/>
          <p:cNvSpPr/>
          <p:nvPr/>
        </p:nvSpPr>
        <p:spPr>
          <a:xfrm>
            <a:off x="5285232" y="2020824"/>
            <a:ext cx="3493008" cy="237744"/>
          </a:xfrm>
          <a:prstGeom prst="rect">
            <a:avLst/>
          </a:prstGeom>
          <a:noFill/>
          <a:ln/>
        </p:spPr>
        <p:txBody>
          <a:bodyPr wrap="square" lIns="0" tIns="0" rIns="0" bIns="0" rtlCol="0" anchor="ctr"/>
          <a:lstStyle/>
          <a:p>
            <a:pPr marL="0" indent="0">
              <a:buNone/>
            </a:pPr>
            <a:r>
              <a:rPr lang="en-US" sz="1100" b="1" dirty="0">
                <a:solidFill>
                  <a:srgbClr val="0D2137"/>
                </a:solidFill>
                <a:latin typeface="Calibri" pitchFamily="34" charset="0"/>
                <a:ea typeface="Calibri" pitchFamily="34" charset="-122"/>
                <a:cs typeface="Calibri" pitchFamily="34" charset="-120"/>
              </a:rPr>
              <a:t>Calibration post-hoc — Phase 5</a:t>
            </a:r>
            <a:endParaRPr lang="en-US" sz="1100" dirty="0"/>
          </a:p>
        </p:txBody>
      </p:sp>
      <p:sp>
        <p:nvSpPr>
          <p:cNvPr id="35" name="Text 33"/>
          <p:cNvSpPr/>
          <p:nvPr/>
        </p:nvSpPr>
        <p:spPr>
          <a:xfrm>
            <a:off x="5285232" y="229514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Platt scaling, Isotonic — ECE ÷50</a:t>
            </a:r>
            <a:endParaRPr lang="en-US" sz="900" dirty="0"/>
          </a:p>
        </p:txBody>
      </p:sp>
      <p:sp>
        <p:nvSpPr>
          <p:cNvPr id="36" name="Shape 34"/>
          <p:cNvSpPr/>
          <p:nvPr/>
        </p:nvSpPr>
        <p:spPr>
          <a:xfrm>
            <a:off x="4754880" y="2743200"/>
            <a:ext cx="4114800" cy="640080"/>
          </a:xfrm>
          <a:prstGeom prst="rect">
            <a:avLst/>
          </a:prstGeom>
          <a:solidFill>
            <a:srgbClr val="FFFFFF"/>
          </a:solidFill>
          <a:ln w="1270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37" name="Shape 35"/>
          <p:cNvSpPr/>
          <p:nvPr/>
        </p:nvSpPr>
        <p:spPr>
          <a:xfrm>
            <a:off x="4754880" y="2743200"/>
            <a:ext cx="457200" cy="640080"/>
          </a:xfrm>
          <a:prstGeom prst="rect">
            <a:avLst/>
          </a:prstGeom>
          <a:solidFill>
            <a:srgbClr val="1A5C8A"/>
          </a:solidFill>
          <a:ln w="12700">
            <a:solidFill>
              <a:srgbClr val="1A5C8A"/>
            </a:solidFill>
            <a:prstDash val="solid"/>
          </a:ln>
        </p:spPr>
        <p:txBody>
          <a:bodyPr/>
          <a:lstStyle/>
          <a:p>
            <a:endParaRPr lang="fr-FR" dirty="0"/>
          </a:p>
        </p:txBody>
      </p:sp>
      <p:sp>
        <p:nvSpPr>
          <p:cNvPr id="38" name="Text 36"/>
          <p:cNvSpPr/>
          <p:nvPr/>
        </p:nvSpPr>
        <p:spPr>
          <a:xfrm>
            <a:off x="4754880" y="2743200"/>
            <a:ext cx="45720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39" name="Text 37"/>
          <p:cNvSpPr/>
          <p:nvPr/>
        </p:nvSpPr>
        <p:spPr>
          <a:xfrm>
            <a:off x="5285232" y="2798064"/>
            <a:ext cx="3493008" cy="237744"/>
          </a:xfrm>
          <a:prstGeom prst="rect">
            <a:avLst/>
          </a:prstGeom>
          <a:noFill/>
          <a:ln/>
        </p:spPr>
        <p:txBody>
          <a:bodyPr wrap="square" lIns="0" tIns="0" rIns="0" bIns="0" rtlCol="0" anchor="ctr"/>
          <a:lstStyle/>
          <a:p>
            <a:r>
              <a:rPr lang="en-US" sz="1100" b="1" dirty="0">
                <a:solidFill>
                  <a:srgbClr val="0D2137"/>
                </a:solidFill>
                <a:latin typeface="Calibri" pitchFamily="34" charset="0"/>
                <a:ea typeface="Calibri" pitchFamily="34" charset="-122"/>
                <a:cs typeface="Calibri" pitchFamily="34" charset="-120"/>
              </a:rPr>
              <a:t>Actuariel &amp; Deep Learning — Phase 6 — 7 </a:t>
            </a:r>
            <a:endParaRPr lang="en-US" sz="1100" dirty="0"/>
          </a:p>
        </p:txBody>
      </p:sp>
      <p:sp>
        <p:nvSpPr>
          <p:cNvPr id="40" name="Text 38"/>
          <p:cNvSpPr/>
          <p:nvPr/>
        </p:nvSpPr>
        <p:spPr>
          <a:xfrm>
            <a:off x="5285232" y="3072384"/>
            <a:ext cx="3493008" cy="237744"/>
          </a:xfrm>
          <a:prstGeom prst="rect">
            <a:avLst/>
          </a:prstGeom>
          <a:noFill/>
          <a:ln/>
        </p:spPr>
        <p:txBody>
          <a:bodyPr wrap="square" lIns="0" tIns="0" rIns="0" bIns="0" rtlCol="0" anchor="ctr"/>
          <a:lstStyle/>
          <a:p>
            <a:pPr marL="0" indent="0">
              <a:buNone/>
            </a:pPr>
            <a:r>
              <a:rPr lang="en-US" sz="900" dirty="0">
                <a:solidFill>
                  <a:srgbClr val="8499B0"/>
                </a:solidFill>
                <a:latin typeface="Calibri" pitchFamily="34" charset="0"/>
                <a:ea typeface="Calibri" pitchFamily="34" charset="-122"/>
                <a:cs typeface="Calibri" pitchFamily="34" charset="-120"/>
              </a:rPr>
              <a:t>Poisson×Gamma, MLP, comparaison finale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Contexte &amp; </a:t>
            </a:r>
            <a:r>
              <a:rPr lang="en-US" sz="2200" b="1" dirty="0" err="1">
                <a:solidFill>
                  <a:srgbClr val="0D2137"/>
                </a:solidFill>
                <a:latin typeface="Calibri" pitchFamily="34" charset="0"/>
                <a:ea typeface="Calibri" pitchFamily="34" charset="-122"/>
                <a:cs typeface="Calibri" pitchFamily="34" charset="-120"/>
              </a:rPr>
              <a:t>Objectifs</a:t>
            </a:r>
            <a:r>
              <a:rPr lang="en-US" sz="2200" b="1" dirty="0">
                <a:solidFill>
                  <a:srgbClr val="0D2137"/>
                </a:solidFill>
                <a:latin typeface="Calibri" pitchFamily="34" charset="0"/>
                <a:ea typeface="Calibri" pitchFamily="34" charset="-122"/>
                <a:cs typeface="Calibri" pitchFamily="34" charset="-120"/>
              </a:rPr>
              <a:t> et </a:t>
            </a:r>
            <a:r>
              <a:rPr lang="en-US" sz="2200" b="1" dirty="0" err="1">
                <a:solidFill>
                  <a:srgbClr val="0D2137"/>
                </a:solidFill>
                <a:latin typeface="Calibri" pitchFamily="34" charset="0"/>
                <a:ea typeface="Calibri" pitchFamily="34" charset="-122"/>
                <a:cs typeface="Calibri" pitchFamily="34" charset="-120"/>
              </a:rPr>
              <a:t>Livrables</a:t>
            </a:r>
            <a:r>
              <a:rPr lang="en-US" sz="2200" b="1" dirty="0">
                <a:solidFill>
                  <a:srgbClr val="0D2137"/>
                </a:solidFill>
                <a:latin typeface="Calibri" pitchFamily="34" charset="0"/>
                <a:ea typeface="Calibri" pitchFamily="34" charset="-122"/>
                <a:cs typeface="Calibri" pitchFamily="34" charset="-120"/>
              </a:rPr>
              <a:t> du </a:t>
            </a:r>
            <a:r>
              <a:rPr lang="en-US" sz="2200" b="1" dirty="0" err="1">
                <a:solidFill>
                  <a:srgbClr val="0D2137"/>
                </a:solidFill>
                <a:latin typeface="Calibri" pitchFamily="34" charset="0"/>
                <a:ea typeface="Calibri" pitchFamily="34" charset="-122"/>
                <a:cs typeface="Calibri" pitchFamily="34" charset="-120"/>
              </a:rPr>
              <a:t>projet</a:t>
            </a:r>
            <a:r>
              <a:rPr lang="en-US" sz="2200" b="1" dirty="0">
                <a:solidFill>
                  <a:srgbClr val="0D2137"/>
                </a:solidFill>
                <a:latin typeface="Calibri" pitchFamily="34" charset="0"/>
                <a:ea typeface="Calibri" pitchFamily="34" charset="-122"/>
                <a:cs typeface="Calibri" pitchFamily="34" charset="-120"/>
              </a:rPr>
              <a:t>  </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pPr marL="0" indent="0">
              <a:buNone/>
            </a:pPr>
            <a:r>
              <a:rPr lang="en-US" sz="1200" dirty="0">
                <a:solidFill>
                  <a:srgbClr val="1A5C8A"/>
                </a:solidFill>
                <a:latin typeface="Calibri" pitchFamily="34" charset="0"/>
                <a:ea typeface="Calibri" pitchFamily="34" charset="-122"/>
                <a:cs typeface="Calibri" pitchFamily="34" charset="-120"/>
              </a:rPr>
              <a:t>Assurance Usage-Based Insurance (UBI) — Cadre actuariel</a:t>
            </a:r>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6" name="Shape 4"/>
          <p:cNvSpPr/>
          <p:nvPr/>
        </p:nvSpPr>
        <p:spPr>
          <a:xfrm>
            <a:off x="411480" y="1097280"/>
            <a:ext cx="4160520" cy="2693963"/>
          </a:xfrm>
          <a:prstGeom prst="rect">
            <a:avLst/>
          </a:prstGeom>
          <a:solidFill>
            <a:srgbClr val="FFFFFF"/>
          </a:solidFill>
          <a:ln w="1270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7" name="Shape 5"/>
          <p:cNvSpPr/>
          <p:nvPr/>
        </p:nvSpPr>
        <p:spPr>
          <a:xfrm>
            <a:off x="411480" y="1097280"/>
            <a:ext cx="4160520" cy="54864"/>
          </a:xfrm>
          <a:prstGeom prst="rect">
            <a:avLst/>
          </a:prstGeom>
          <a:solidFill>
            <a:srgbClr val="1A5C8A"/>
          </a:solidFill>
          <a:ln w="12700">
            <a:solidFill>
              <a:srgbClr val="1A5C8A"/>
            </a:solidFill>
            <a:prstDash val="solid"/>
          </a:ln>
        </p:spPr>
        <p:txBody>
          <a:bodyPr/>
          <a:lstStyle/>
          <a:p>
            <a:endParaRPr lang="fr-FR" dirty="0"/>
          </a:p>
        </p:txBody>
      </p:sp>
      <p:sp>
        <p:nvSpPr>
          <p:cNvPr id="8" name="Text 6"/>
          <p:cNvSpPr/>
          <p:nvPr/>
        </p:nvSpPr>
        <p:spPr>
          <a:xfrm>
            <a:off x="521208" y="1188720"/>
            <a:ext cx="3941064" cy="274320"/>
          </a:xfrm>
          <a:prstGeom prst="rect">
            <a:avLst/>
          </a:prstGeom>
          <a:noFill/>
          <a:ln/>
        </p:spPr>
        <p:txBody>
          <a:bodyPr wrap="square" lIns="0" tIns="0" rIns="0" bIns="0" rtlCol="0" anchor="ctr"/>
          <a:lstStyle/>
          <a:p>
            <a:pPr marL="0" indent="0">
              <a:buNone/>
            </a:pPr>
            <a:r>
              <a:rPr lang="en-US" sz="1100" b="1" dirty="0">
                <a:solidFill>
                  <a:srgbClr val="1A5C8A"/>
                </a:solidFill>
                <a:latin typeface="Calibri" pitchFamily="34" charset="0"/>
                <a:ea typeface="Calibri" pitchFamily="34" charset="-122"/>
                <a:cs typeface="Calibri" pitchFamily="34" charset="-120"/>
              </a:rPr>
              <a:t>Tarification Classique vs UBI</a:t>
            </a:r>
            <a:endParaRPr lang="en-US" sz="1100" dirty="0"/>
          </a:p>
        </p:txBody>
      </p:sp>
      <p:sp>
        <p:nvSpPr>
          <p:cNvPr id="9" name="Text 7"/>
          <p:cNvSpPr/>
          <p:nvPr/>
        </p:nvSpPr>
        <p:spPr>
          <a:xfrm>
            <a:off x="521208" y="1499616"/>
            <a:ext cx="3941064" cy="2024341"/>
          </a:xfrm>
          <a:prstGeom prst="rect">
            <a:avLst/>
          </a:prstGeom>
          <a:noFill/>
          <a:ln/>
        </p:spPr>
        <p:txBody>
          <a:bodyPr wrap="square" rtlCol="0" anchor="ctr"/>
          <a:lstStyle/>
          <a:p>
            <a:pPr marL="342900" indent="-342900">
              <a:spcAft>
                <a:spcPts val="200"/>
              </a:spcAft>
              <a:buSzPct val="100000"/>
              <a:buChar char="•"/>
            </a:pPr>
            <a:r>
              <a:rPr lang="en-US" sz="1000" dirty="0">
                <a:solidFill>
                  <a:srgbClr val="061624"/>
                </a:solidFill>
                <a:latin typeface="Calibri" pitchFamily="34" charset="0"/>
                <a:ea typeface="Calibri" pitchFamily="34" charset="-122"/>
                <a:cs typeface="Calibri" pitchFamily="34" charset="-120"/>
              </a:rPr>
              <a:t>Classique : variables statiques (âge, genre, région)</a:t>
            </a:r>
            <a:endParaRPr lang="en-US" sz="1000" dirty="0"/>
          </a:p>
          <a:p>
            <a:pPr marL="342900" indent="-342900">
              <a:spcAft>
                <a:spcPts val="200"/>
              </a:spcAft>
              <a:buSzPct val="100000"/>
              <a:buChar char="•"/>
            </a:pPr>
            <a:r>
              <a:rPr lang="en-US" sz="1000" dirty="0">
                <a:solidFill>
                  <a:srgbClr val="061624"/>
                </a:solidFill>
                <a:latin typeface="Calibri" pitchFamily="34" charset="0"/>
                <a:ea typeface="Calibri" pitchFamily="34" charset="-122"/>
                <a:cs typeface="Calibri" pitchFamily="34" charset="-120"/>
              </a:rPr>
              <a:t>Classique : risque mutualisé par groupe</a:t>
            </a:r>
            <a:endParaRPr lang="en-US" sz="1000" dirty="0"/>
          </a:p>
          <a:p>
            <a:pPr marL="342900" indent="-342900">
              <a:spcAft>
                <a:spcPts val="200"/>
              </a:spcAft>
              <a:buSzPct val="100000"/>
              <a:buChar char="•"/>
            </a:pPr>
            <a:r>
              <a:rPr lang="en-US" sz="1000" dirty="0">
                <a:solidFill>
                  <a:srgbClr val="061624"/>
                </a:solidFill>
                <a:latin typeface="Calibri" pitchFamily="34" charset="0"/>
                <a:ea typeface="Calibri" pitchFamily="34" charset="-122"/>
                <a:cs typeface="Calibri" pitchFamily="34" charset="-120"/>
              </a:rPr>
              <a:t>Classique : kilométrage déclaré (biais possible)</a:t>
            </a:r>
            <a:endParaRPr lang="en-US" sz="1000" dirty="0"/>
          </a:p>
          <a:p>
            <a:pPr marL="342900" indent="-342900">
              <a:spcAft>
                <a:spcPts val="200"/>
              </a:spcAft>
              <a:buSzPct val="100000"/>
              <a:buChar char="•"/>
            </a:pPr>
            <a:r>
              <a:rPr lang="en-US" sz="1000" dirty="0">
                <a:solidFill>
                  <a:srgbClr val="061624"/>
                </a:solidFill>
                <a:latin typeface="Calibri" pitchFamily="34" charset="0"/>
                <a:ea typeface="Calibri" pitchFamily="34" charset="-122"/>
                <a:cs typeface="Calibri" pitchFamily="34" charset="-120"/>
              </a:rPr>
              <a:t>UBI : comportement de conduite réel mesuré</a:t>
            </a:r>
            <a:endParaRPr lang="en-US" sz="1000" dirty="0"/>
          </a:p>
          <a:p>
            <a:pPr marL="342900" indent="-342900">
              <a:spcAft>
                <a:spcPts val="200"/>
              </a:spcAft>
              <a:buSzPct val="100000"/>
              <a:buChar char="•"/>
            </a:pPr>
            <a:r>
              <a:rPr lang="en-US" sz="1000" dirty="0">
                <a:solidFill>
                  <a:srgbClr val="061624"/>
                </a:solidFill>
                <a:latin typeface="Calibri" pitchFamily="34" charset="0"/>
                <a:ea typeface="Calibri" pitchFamily="34" charset="-122"/>
                <a:cs typeface="Calibri" pitchFamily="34" charset="-120"/>
              </a:rPr>
              <a:t>UBI : risque individualisé par </a:t>
            </a:r>
            <a:r>
              <a:rPr lang="en-US" sz="1000" dirty="0" err="1">
                <a:solidFill>
                  <a:srgbClr val="061624"/>
                </a:solidFill>
                <a:latin typeface="Calibri" pitchFamily="34" charset="0"/>
                <a:ea typeface="Calibri" pitchFamily="34" charset="-122"/>
                <a:cs typeface="Calibri" pitchFamily="34" charset="-120"/>
              </a:rPr>
              <a:t>conducteur</a:t>
            </a:r>
            <a:endParaRPr lang="en-US" sz="1000" dirty="0"/>
          </a:p>
        </p:txBody>
      </p:sp>
      <p:sp>
        <p:nvSpPr>
          <p:cNvPr id="10" name="Shape 8"/>
          <p:cNvSpPr/>
          <p:nvPr/>
        </p:nvSpPr>
        <p:spPr>
          <a:xfrm>
            <a:off x="4754880" y="1097280"/>
            <a:ext cx="3977640" cy="1280160"/>
          </a:xfrm>
          <a:prstGeom prst="rect">
            <a:avLst/>
          </a:prstGeom>
          <a:solidFill>
            <a:srgbClr val="0D2137"/>
          </a:solidFill>
          <a:ln w="1905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11" name="Text 9"/>
          <p:cNvSpPr/>
          <p:nvPr/>
        </p:nvSpPr>
        <p:spPr>
          <a:xfrm>
            <a:off x="4864608" y="1207008"/>
            <a:ext cx="3749040" cy="292608"/>
          </a:xfrm>
          <a:prstGeom prst="rect">
            <a:avLst/>
          </a:prstGeom>
          <a:noFill/>
          <a:ln/>
        </p:spPr>
        <p:txBody>
          <a:bodyPr wrap="square" lIns="0" tIns="0" rIns="0" bIns="0" rtlCol="0" anchor="ctr"/>
          <a:lstStyle/>
          <a:p>
            <a:pPr marL="0" indent="0">
              <a:buNone/>
            </a:pPr>
            <a:r>
              <a:rPr lang="en-US" sz="1100" b="1" dirty="0">
                <a:solidFill>
                  <a:srgbClr val="0E8C8C"/>
                </a:solidFill>
                <a:latin typeface="Calibri" pitchFamily="34" charset="0"/>
                <a:ea typeface="Calibri" pitchFamily="34" charset="-122"/>
                <a:cs typeface="Calibri" pitchFamily="34" charset="-120"/>
              </a:rPr>
              <a:t>Prime Pure = Fréquence × Sévérité</a:t>
            </a:r>
            <a:endParaRPr lang="en-US" sz="1100" dirty="0"/>
          </a:p>
        </p:txBody>
      </p:sp>
      <p:sp>
        <p:nvSpPr>
          <p:cNvPr id="12" name="Text 10"/>
          <p:cNvSpPr/>
          <p:nvPr/>
        </p:nvSpPr>
        <p:spPr>
          <a:xfrm>
            <a:off x="4864608" y="1536192"/>
            <a:ext cx="374904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E[NB_Claim]  ×  E[AMT_Claim | NB &gt; 0]</a:t>
            </a:r>
            <a:endParaRPr lang="en-US" sz="1300" dirty="0"/>
          </a:p>
        </p:txBody>
      </p:sp>
      <p:sp>
        <p:nvSpPr>
          <p:cNvPr id="13" name="Text 11"/>
          <p:cNvSpPr/>
          <p:nvPr/>
        </p:nvSpPr>
        <p:spPr>
          <a:xfrm>
            <a:off x="4864608" y="1920240"/>
            <a:ext cx="3749040" cy="256032"/>
          </a:xfrm>
          <a:prstGeom prst="rect">
            <a:avLst/>
          </a:prstGeom>
          <a:noFill/>
          <a:ln/>
        </p:spPr>
        <p:txBody>
          <a:bodyPr wrap="square" lIns="0" tIns="0" rIns="0" bIns="0" rtlCol="0" anchor="ctr"/>
          <a:lstStyle/>
          <a:p>
            <a:pPr marL="0" indent="0" algn="ctr">
              <a:buNone/>
            </a:pPr>
            <a:r>
              <a:rPr lang="en-US" sz="950" dirty="0">
                <a:solidFill>
                  <a:srgbClr val="4DB8D4"/>
                </a:solidFill>
                <a:latin typeface="Calibri" pitchFamily="34" charset="0"/>
                <a:ea typeface="Calibri" pitchFamily="34" charset="-122"/>
                <a:cs typeface="Calibri" pitchFamily="34" charset="-120"/>
              </a:rPr>
              <a:t>Coût technique du risque — base de la tarification actuarielle</a:t>
            </a:r>
            <a:endParaRPr lang="en-US" sz="950" dirty="0"/>
          </a:p>
        </p:txBody>
      </p:sp>
      <p:sp>
        <p:nvSpPr>
          <p:cNvPr id="14" name="Shape 12"/>
          <p:cNvSpPr/>
          <p:nvPr/>
        </p:nvSpPr>
        <p:spPr>
          <a:xfrm>
            <a:off x="4754880" y="2514600"/>
            <a:ext cx="3977640" cy="566928"/>
          </a:xfrm>
          <a:prstGeom prst="rect">
            <a:avLst/>
          </a:prstGeom>
          <a:solidFill>
            <a:srgbClr val="FFFFFF"/>
          </a:solidFill>
          <a:ln w="1270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15" name="Shape 13"/>
          <p:cNvSpPr/>
          <p:nvPr/>
        </p:nvSpPr>
        <p:spPr>
          <a:xfrm>
            <a:off x="4754880" y="2514600"/>
            <a:ext cx="54864" cy="566928"/>
          </a:xfrm>
          <a:prstGeom prst="rect">
            <a:avLst/>
          </a:prstGeom>
          <a:solidFill>
            <a:srgbClr val="1A5C8A"/>
          </a:solidFill>
          <a:ln w="12700">
            <a:solidFill>
              <a:srgbClr val="1A5C8A"/>
            </a:solidFill>
            <a:prstDash val="solid"/>
          </a:ln>
        </p:spPr>
        <p:txBody>
          <a:bodyPr/>
          <a:lstStyle/>
          <a:p>
            <a:endParaRPr lang="fr-FR" dirty="0"/>
          </a:p>
        </p:txBody>
      </p:sp>
      <p:sp>
        <p:nvSpPr>
          <p:cNvPr id="16" name="Text 14"/>
          <p:cNvSpPr/>
          <p:nvPr/>
        </p:nvSpPr>
        <p:spPr>
          <a:xfrm>
            <a:off x="4882896" y="2560320"/>
            <a:ext cx="3749040" cy="201168"/>
          </a:xfrm>
          <a:prstGeom prst="rect">
            <a:avLst/>
          </a:prstGeom>
          <a:noFill/>
          <a:ln/>
        </p:spPr>
        <p:txBody>
          <a:bodyPr wrap="square" lIns="0" tIns="0" rIns="0" bIns="0" rtlCol="0" anchor="ctr"/>
          <a:lstStyle/>
          <a:p>
            <a:pPr marL="0" indent="0">
              <a:buNone/>
            </a:pPr>
            <a:r>
              <a:rPr lang="en-US" sz="1000" b="1" dirty="0">
                <a:solidFill>
                  <a:srgbClr val="1A5C8A"/>
                </a:solidFill>
                <a:latin typeface="Calibri" pitchFamily="34" charset="0"/>
                <a:ea typeface="Calibri" pitchFamily="34" charset="-122"/>
                <a:cs typeface="Calibri" pitchFamily="34" charset="-120"/>
              </a:rPr>
              <a:t>Objectif 1 — Fréquence</a:t>
            </a:r>
            <a:endParaRPr lang="en-US" sz="1000" dirty="0"/>
          </a:p>
        </p:txBody>
      </p:sp>
      <p:sp>
        <p:nvSpPr>
          <p:cNvPr id="17" name="Text 15"/>
          <p:cNvSpPr/>
          <p:nvPr/>
        </p:nvSpPr>
        <p:spPr>
          <a:xfrm>
            <a:off x="4882896" y="2770632"/>
            <a:ext cx="3749040" cy="256032"/>
          </a:xfrm>
          <a:prstGeom prst="rect">
            <a:avLst/>
          </a:prstGeom>
          <a:noFill/>
          <a:ln/>
        </p:spPr>
        <p:txBody>
          <a:bodyPr wrap="square" lIns="0" tIns="0" rIns="0" bIns="0" rtlCol="0" anchor="ctr"/>
          <a:lstStyle/>
          <a:p>
            <a:pPr marL="0" indent="0">
              <a:buNone/>
            </a:pPr>
            <a:r>
              <a:rPr lang="en-US" sz="900" dirty="0">
                <a:solidFill>
                  <a:srgbClr val="061624"/>
                </a:solidFill>
                <a:latin typeface="Calibri" pitchFamily="34" charset="0"/>
                <a:ea typeface="Calibri" pitchFamily="34" charset="-122"/>
                <a:cs typeface="Calibri" pitchFamily="34" charset="-120"/>
              </a:rPr>
              <a:t>Prédire P(NB_Claim &gt; 0) pour chaque contrat</a:t>
            </a:r>
            <a:endParaRPr lang="en-US" sz="900" dirty="0"/>
          </a:p>
        </p:txBody>
      </p:sp>
      <p:sp>
        <p:nvSpPr>
          <p:cNvPr id="18" name="Shape 16"/>
          <p:cNvSpPr/>
          <p:nvPr/>
        </p:nvSpPr>
        <p:spPr>
          <a:xfrm>
            <a:off x="4754880" y="3172968"/>
            <a:ext cx="3977640" cy="566928"/>
          </a:xfrm>
          <a:prstGeom prst="rect">
            <a:avLst/>
          </a:prstGeom>
          <a:solidFill>
            <a:srgbClr val="FFFFFF"/>
          </a:solidFill>
          <a:ln w="1270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19" name="Shape 17"/>
          <p:cNvSpPr/>
          <p:nvPr/>
        </p:nvSpPr>
        <p:spPr>
          <a:xfrm>
            <a:off x="4754880" y="3172968"/>
            <a:ext cx="54864" cy="566928"/>
          </a:xfrm>
          <a:prstGeom prst="rect">
            <a:avLst/>
          </a:prstGeom>
          <a:solidFill>
            <a:srgbClr val="0E8C8C"/>
          </a:solidFill>
          <a:ln w="12700">
            <a:solidFill>
              <a:srgbClr val="0E8C8C"/>
            </a:solidFill>
            <a:prstDash val="solid"/>
          </a:ln>
        </p:spPr>
        <p:txBody>
          <a:bodyPr/>
          <a:lstStyle/>
          <a:p>
            <a:endParaRPr lang="fr-FR" dirty="0"/>
          </a:p>
        </p:txBody>
      </p:sp>
      <p:sp>
        <p:nvSpPr>
          <p:cNvPr id="20" name="Text 18"/>
          <p:cNvSpPr/>
          <p:nvPr/>
        </p:nvSpPr>
        <p:spPr>
          <a:xfrm>
            <a:off x="4882896" y="3218688"/>
            <a:ext cx="3749040" cy="201168"/>
          </a:xfrm>
          <a:prstGeom prst="rect">
            <a:avLst/>
          </a:prstGeom>
          <a:noFill/>
          <a:ln/>
        </p:spPr>
        <p:txBody>
          <a:bodyPr wrap="square" lIns="0" tIns="0" rIns="0" bIns="0" rtlCol="0" anchor="ctr"/>
          <a:lstStyle/>
          <a:p>
            <a:pPr marL="0" indent="0">
              <a:buNone/>
            </a:pPr>
            <a:r>
              <a:rPr lang="en-US" sz="1000" b="1" dirty="0">
                <a:solidFill>
                  <a:srgbClr val="0E8C8C"/>
                </a:solidFill>
                <a:latin typeface="Calibri" pitchFamily="34" charset="0"/>
                <a:ea typeface="Calibri" pitchFamily="34" charset="-122"/>
                <a:cs typeface="Calibri" pitchFamily="34" charset="-120"/>
              </a:rPr>
              <a:t>Objectif 2 — Sévérité</a:t>
            </a:r>
            <a:endParaRPr lang="en-US" sz="1000" dirty="0"/>
          </a:p>
        </p:txBody>
      </p:sp>
      <p:sp>
        <p:nvSpPr>
          <p:cNvPr id="21" name="Text 19"/>
          <p:cNvSpPr/>
          <p:nvPr/>
        </p:nvSpPr>
        <p:spPr>
          <a:xfrm>
            <a:off x="4882896" y="3429000"/>
            <a:ext cx="3749040" cy="256032"/>
          </a:xfrm>
          <a:prstGeom prst="rect">
            <a:avLst/>
          </a:prstGeom>
          <a:noFill/>
          <a:ln/>
        </p:spPr>
        <p:txBody>
          <a:bodyPr wrap="square" lIns="0" tIns="0" rIns="0" bIns="0" rtlCol="0" anchor="ctr"/>
          <a:lstStyle/>
          <a:p>
            <a:pPr marL="0" indent="0">
              <a:buNone/>
            </a:pPr>
            <a:r>
              <a:rPr lang="en-US" sz="900" dirty="0">
                <a:solidFill>
                  <a:srgbClr val="061624"/>
                </a:solidFill>
                <a:latin typeface="Calibri" pitchFamily="34" charset="0"/>
                <a:ea typeface="Calibri" pitchFamily="34" charset="-122"/>
                <a:cs typeface="Calibri" pitchFamily="34" charset="-120"/>
              </a:rPr>
              <a:t>Estimer E[AMT | NB &gt; 0] — coût conditionnel</a:t>
            </a:r>
            <a:endParaRPr lang="en-US" sz="900" dirty="0"/>
          </a:p>
        </p:txBody>
      </p:sp>
      <p:sp>
        <p:nvSpPr>
          <p:cNvPr id="26" name="TextBox 25">
            <a:extLst>
              <a:ext uri="{FF2B5EF4-FFF2-40B4-BE49-F238E27FC236}">
                <a16:creationId xmlns:a16="http://schemas.microsoft.com/office/drawing/2014/main" id="{505FEA17-E136-EA88-FD3A-64667EAE53F6}"/>
              </a:ext>
            </a:extLst>
          </p:cNvPr>
          <p:cNvSpPr txBox="1"/>
          <p:nvPr/>
        </p:nvSpPr>
        <p:spPr>
          <a:xfrm>
            <a:off x="411480" y="4037087"/>
            <a:ext cx="7734300" cy="646331"/>
          </a:xfrm>
          <a:prstGeom prst="rect">
            <a:avLst/>
          </a:prstGeom>
          <a:noFill/>
        </p:spPr>
        <p:txBody>
          <a:bodyPr wrap="square" rtlCol="0">
            <a:spAutoFit/>
          </a:bodyPr>
          <a:lstStyle/>
          <a:p>
            <a:r>
              <a:rPr lang="fr-FR" b="1" dirty="0"/>
              <a:t>Les livrables comprennent : </a:t>
            </a:r>
            <a:r>
              <a:rPr lang="fr-FR" dirty="0"/>
              <a:t>le code </a:t>
            </a:r>
            <a:r>
              <a:rPr lang="fr-FR" dirty="0" err="1"/>
              <a:t>NumPy</a:t>
            </a:r>
            <a:r>
              <a:rPr lang="fr-FR" dirty="0"/>
              <a:t>, deux rapport (au format PDF et notebook) ainsi qu’une application </a:t>
            </a:r>
            <a:r>
              <a:rPr lang="fr-FR" dirty="0" err="1"/>
              <a:t>Streamlit</a:t>
            </a:r>
            <a:r>
              <a:rPr lang="fr-FR" dirty="0"/>
              <a:t> associée.</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Le Jeu de Données et </a:t>
            </a:r>
            <a:r>
              <a:rPr lang="en-US" sz="2200" b="1" dirty="0" err="1">
                <a:solidFill>
                  <a:srgbClr val="0D2137"/>
                </a:solidFill>
                <a:latin typeface="Calibri" pitchFamily="34" charset="0"/>
                <a:ea typeface="Calibri" pitchFamily="34" charset="-122"/>
                <a:cs typeface="Calibri" pitchFamily="34" charset="-120"/>
              </a:rPr>
              <a:t>Nettoyage</a:t>
            </a:r>
            <a:endParaRPr lang="en-US" sz="2200" dirty="0"/>
          </a:p>
        </p:txBody>
      </p:sp>
      <p:sp>
        <p:nvSpPr>
          <p:cNvPr id="4" name="Text 2"/>
          <p:cNvSpPr/>
          <p:nvPr/>
        </p:nvSpPr>
        <p:spPr>
          <a:xfrm>
            <a:off x="365760" y="644301"/>
            <a:ext cx="8321040" cy="431173"/>
          </a:xfrm>
          <a:prstGeom prst="rect">
            <a:avLst/>
          </a:prstGeom>
          <a:noFill/>
          <a:ln/>
        </p:spPr>
        <p:txBody>
          <a:bodyPr wrap="square" lIns="0" tIns="0" rIns="0" bIns="0" rtlCol="0" anchor="ctr"/>
          <a:lstStyle/>
          <a:p>
            <a:r>
              <a:rPr lang="en-US" sz="1200" dirty="0">
                <a:solidFill>
                  <a:srgbClr val="1A5C8A"/>
                </a:solidFill>
                <a:latin typeface="Calibri" pitchFamily="34" charset="0"/>
                <a:ea typeface="Calibri" pitchFamily="34" charset="-122"/>
                <a:cs typeface="Calibri" pitchFamily="34" charset="-120"/>
              </a:rPr>
              <a:t>100 000 contrats · 52 variables · Dataset synthétique UBI </a:t>
            </a:r>
            <a:r>
              <a:rPr lang="en-US" sz="1200" dirty="0" err="1">
                <a:solidFill>
                  <a:srgbClr val="1A5C8A"/>
                </a:solidFill>
                <a:latin typeface="Calibri" pitchFamily="34" charset="0"/>
                <a:ea typeface="Calibri" pitchFamily="34" charset="-122"/>
                <a:cs typeface="Calibri" pitchFamily="34" charset="-120"/>
              </a:rPr>
              <a:t>nord-américain</a:t>
            </a:r>
            <a:r>
              <a:rPr lang="fr-FR" sz="1200" dirty="0">
                <a:solidFill>
                  <a:srgbClr val="1A5C8A"/>
                </a:solidFill>
                <a:latin typeface="Calibri" pitchFamily="34" charset="0"/>
                <a:ea typeface="Calibri" pitchFamily="34" charset="-122"/>
                <a:cs typeface="Calibri" pitchFamily="34" charset="-120"/>
              </a:rPr>
              <a:t> et le nettoyage des incohérences univariées et multivariées  </a:t>
            </a:r>
            <a:endParaRPr lang="en-US" sz="1200" dirty="0">
              <a:solidFill>
                <a:srgbClr val="1A5C8A"/>
              </a:solidFill>
              <a:latin typeface="Calibri" pitchFamily="34" charset="0"/>
              <a:ea typeface="Calibri" pitchFamily="34" charset="-122"/>
              <a:cs typeface="Calibri" pitchFamily="34" charset="-120"/>
            </a:endParaRPr>
          </a:p>
          <a:p>
            <a:r>
              <a:rPr lang="en-US" sz="1200" dirty="0">
                <a:solidFill>
                  <a:srgbClr val="1A5C8A"/>
                </a:solidFill>
                <a:latin typeface="Calibri" pitchFamily="34" charset="0"/>
                <a:ea typeface="Calibri" pitchFamily="34" charset="-122"/>
                <a:cs typeface="Calibri" pitchFamily="34" charset="-120"/>
              </a:rPr>
              <a:t> </a:t>
            </a:r>
            <a:endParaRPr lang="en-US" sz="1200" dirty="0"/>
          </a:p>
        </p:txBody>
      </p:sp>
      <p:sp>
        <p:nvSpPr>
          <p:cNvPr id="5" name="Shape 3"/>
          <p:cNvSpPr/>
          <p:nvPr/>
        </p:nvSpPr>
        <p:spPr>
          <a:xfrm flipV="1">
            <a:off x="404446" y="903673"/>
            <a:ext cx="8099474" cy="23384"/>
          </a:xfrm>
          <a:prstGeom prst="line">
            <a:avLst/>
          </a:prstGeom>
          <a:noFill/>
          <a:ln w="19050">
            <a:solidFill>
              <a:srgbClr val="0E8C8C"/>
            </a:solidFill>
            <a:prstDash val="solid"/>
          </a:ln>
        </p:spPr>
        <p:txBody>
          <a:bodyPr/>
          <a:lstStyle/>
          <a:p>
            <a:endParaRPr lang="fr-FR" dirty="0"/>
          </a:p>
        </p:txBody>
      </p:sp>
      <p:sp>
        <p:nvSpPr>
          <p:cNvPr id="6" name="Shape 4"/>
          <p:cNvSpPr/>
          <p:nvPr/>
        </p:nvSpPr>
        <p:spPr>
          <a:xfrm>
            <a:off x="365760" y="1048039"/>
            <a:ext cx="1153551" cy="914400"/>
          </a:xfrm>
          <a:prstGeom prst="rect">
            <a:avLst/>
          </a:prstGeom>
          <a:solidFill>
            <a:srgbClr val="FFFFFF"/>
          </a:solidFill>
          <a:ln w="1905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7" name="Shape 5"/>
          <p:cNvSpPr/>
          <p:nvPr/>
        </p:nvSpPr>
        <p:spPr>
          <a:xfrm>
            <a:off x="365760" y="1048039"/>
            <a:ext cx="1153551" cy="64008"/>
          </a:xfrm>
          <a:prstGeom prst="rect">
            <a:avLst/>
          </a:prstGeom>
          <a:solidFill>
            <a:srgbClr val="1A5C8A"/>
          </a:solidFill>
          <a:ln w="12700">
            <a:solidFill>
              <a:srgbClr val="1A5C8A"/>
            </a:solidFill>
            <a:prstDash val="solid"/>
          </a:ln>
        </p:spPr>
        <p:txBody>
          <a:bodyPr/>
          <a:lstStyle/>
          <a:p>
            <a:endParaRPr lang="fr-FR" dirty="0"/>
          </a:p>
        </p:txBody>
      </p:sp>
      <p:sp>
        <p:nvSpPr>
          <p:cNvPr id="8" name="Text 6"/>
          <p:cNvSpPr/>
          <p:nvPr/>
        </p:nvSpPr>
        <p:spPr>
          <a:xfrm>
            <a:off x="365760" y="1157767"/>
            <a:ext cx="1153551" cy="502920"/>
          </a:xfrm>
          <a:prstGeom prst="rect">
            <a:avLst/>
          </a:prstGeom>
          <a:noFill/>
          <a:ln/>
        </p:spPr>
        <p:txBody>
          <a:bodyPr wrap="square" lIns="0" tIns="0" rIns="0" bIns="0" rtlCol="0" anchor="ctr"/>
          <a:lstStyle/>
          <a:p>
            <a:pPr marL="0" indent="0" algn="ctr">
              <a:buNone/>
            </a:pPr>
            <a:r>
              <a:rPr lang="en-US" sz="2600" b="1" dirty="0">
                <a:solidFill>
                  <a:srgbClr val="1A5C8A"/>
                </a:solidFill>
                <a:latin typeface="Calibri" pitchFamily="34" charset="0"/>
                <a:ea typeface="Calibri" pitchFamily="34" charset="-122"/>
                <a:cs typeface="Calibri" pitchFamily="34" charset="-120"/>
              </a:rPr>
              <a:t>100 000</a:t>
            </a:r>
            <a:endParaRPr lang="en-US" sz="2600" dirty="0"/>
          </a:p>
        </p:txBody>
      </p:sp>
      <p:sp>
        <p:nvSpPr>
          <p:cNvPr id="9" name="Text 7"/>
          <p:cNvSpPr/>
          <p:nvPr/>
        </p:nvSpPr>
        <p:spPr>
          <a:xfrm>
            <a:off x="365760" y="1614967"/>
            <a:ext cx="1153551" cy="292608"/>
          </a:xfrm>
          <a:prstGeom prst="rect">
            <a:avLst/>
          </a:prstGeom>
          <a:noFill/>
          <a:ln/>
        </p:spPr>
        <p:txBody>
          <a:bodyPr wrap="square" lIns="0" tIns="0" rIns="0" bIns="0" rtlCol="0" anchor="ctr"/>
          <a:lstStyle/>
          <a:p>
            <a:pPr marL="0" indent="0" algn="ctr">
              <a:buNone/>
            </a:pPr>
            <a:r>
              <a:rPr lang="en-US" sz="1000" dirty="0">
                <a:solidFill>
                  <a:srgbClr val="8499B0"/>
                </a:solidFill>
                <a:latin typeface="Calibri" pitchFamily="34" charset="0"/>
                <a:ea typeface="Calibri" pitchFamily="34" charset="-122"/>
                <a:cs typeface="Calibri" pitchFamily="34" charset="-120"/>
              </a:rPr>
              <a:t>contrats</a:t>
            </a:r>
            <a:endParaRPr lang="en-US" sz="1000" dirty="0"/>
          </a:p>
        </p:txBody>
      </p:sp>
      <p:sp>
        <p:nvSpPr>
          <p:cNvPr id="10" name="Shape 8"/>
          <p:cNvSpPr/>
          <p:nvPr/>
        </p:nvSpPr>
        <p:spPr>
          <a:xfrm>
            <a:off x="1773936" y="1048039"/>
            <a:ext cx="1153551" cy="914400"/>
          </a:xfrm>
          <a:prstGeom prst="rect">
            <a:avLst/>
          </a:prstGeom>
          <a:solidFill>
            <a:srgbClr val="FFFFFF"/>
          </a:solidFill>
          <a:ln w="1905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11" name="Shape 9"/>
          <p:cNvSpPr/>
          <p:nvPr/>
        </p:nvSpPr>
        <p:spPr>
          <a:xfrm>
            <a:off x="1773936" y="1048039"/>
            <a:ext cx="1153551" cy="64008"/>
          </a:xfrm>
          <a:prstGeom prst="rect">
            <a:avLst/>
          </a:prstGeom>
          <a:solidFill>
            <a:srgbClr val="0E8C8C"/>
          </a:solidFill>
          <a:ln w="12700">
            <a:solidFill>
              <a:srgbClr val="0E8C8C"/>
            </a:solidFill>
            <a:prstDash val="solid"/>
          </a:ln>
        </p:spPr>
        <p:txBody>
          <a:bodyPr/>
          <a:lstStyle/>
          <a:p>
            <a:endParaRPr lang="fr-FR" dirty="0"/>
          </a:p>
        </p:txBody>
      </p:sp>
      <p:sp>
        <p:nvSpPr>
          <p:cNvPr id="12" name="Text 10"/>
          <p:cNvSpPr/>
          <p:nvPr/>
        </p:nvSpPr>
        <p:spPr>
          <a:xfrm>
            <a:off x="1773936" y="1157767"/>
            <a:ext cx="1153551" cy="502920"/>
          </a:xfrm>
          <a:prstGeom prst="rect">
            <a:avLst/>
          </a:prstGeom>
          <a:noFill/>
          <a:ln/>
        </p:spPr>
        <p:txBody>
          <a:bodyPr wrap="square" lIns="0" tIns="0" rIns="0" bIns="0" rtlCol="0" anchor="ctr"/>
          <a:lstStyle/>
          <a:p>
            <a:pPr marL="0" indent="0" algn="ctr">
              <a:buNone/>
            </a:pPr>
            <a:r>
              <a:rPr lang="en-US" sz="2600" b="1" dirty="0">
                <a:solidFill>
                  <a:srgbClr val="0E8C8C"/>
                </a:solidFill>
                <a:latin typeface="Calibri" pitchFamily="34" charset="0"/>
                <a:ea typeface="Calibri" pitchFamily="34" charset="-122"/>
                <a:cs typeface="Calibri" pitchFamily="34" charset="-120"/>
              </a:rPr>
              <a:t>52</a:t>
            </a:r>
            <a:endParaRPr lang="en-US" sz="2600" dirty="0"/>
          </a:p>
        </p:txBody>
      </p:sp>
      <p:sp>
        <p:nvSpPr>
          <p:cNvPr id="13" name="Text 11"/>
          <p:cNvSpPr/>
          <p:nvPr/>
        </p:nvSpPr>
        <p:spPr>
          <a:xfrm>
            <a:off x="1773936" y="1614967"/>
            <a:ext cx="1153551" cy="292608"/>
          </a:xfrm>
          <a:prstGeom prst="rect">
            <a:avLst/>
          </a:prstGeom>
          <a:noFill/>
          <a:ln/>
        </p:spPr>
        <p:txBody>
          <a:bodyPr wrap="square" lIns="0" tIns="0" rIns="0" bIns="0" rtlCol="0" anchor="ctr"/>
          <a:lstStyle/>
          <a:p>
            <a:pPr marL="0" indent="0" algn="ctr">
              <a:buNone/>
            </a:pPr>
            <a:r>
              <a:rPr lang="en-US" sz="1000" dirty="0">
                <a:solidFill>
                  <a:srgbClr val="8499B0"/>
                </a:solidFill>
                <a:latin typeface="Calibri" pitchFamily="34" charset="0"/>
                <a:ea typeface="Calibri" pitchFamily="34" charset="-122"/>
                <a:cs typeface="Calibri" pitchFamily="34" charset="-120"/>
              </a:rPr>
              <a:t>variables</a:t>
            </a:r>
            <a:endParaRPr lang="en-US" sz="1000" dirty="0"/>
          </a:p>
        </p:txBody>
      </p:sp>
      <p:sp>
        <p:nvSpPr>
          <p:cNvPr id="14" name="Shape 12"/>
          <p:cNvSpPr/>
          <p:nvPr/>
        </p:nvSpPr>
        <p:spPr>
          <a:xfrm>
            <a:off x="3182112" y="1048039"/>
            <a:ext cx="1153551" cy="914400"/>
          </a:xfrm>
          <a:prstGeom prst="rect">
            <a:avLst/>
          </a:prstGeom>
          <a:solidFill>
            <a:srgbClr val="FFFFFF"/>
          </a:solidFill>
          <a:ln w="19050">
            <a:solidFill>
              <a:srgbClr val="1A5C8A"/>
            </a:solidFill>
            <a:prstDash val="solid"/>
          </a:ln>
          <a:effectLst>
            <a:outerShdw blurRad="101600" dist="38100" dir="8100000" algn="bl" rotWithShape="0">
              <a:srgbClr val="000000">
                <a:alpha val="18000"/>
              </a:srgbClr>
            </a:outerShdw>
          </a:effectLst>
        </p:spPr>
        <p:txBody>
          <a:bodyPr/>
          <a:lstStyle/>
          <a:p>
            <a:endParaRPr lang="fr-FR" dirty="0"/>
          </a:p>
        </p:txBody>
      </p:sp>
      <p:sp>
        <p:nvSpPr>
          <p:cNvPr id="15" name="Shape 13"/>
          <p:cNvSpPr/>
          <p:nvPr/>
        </p:nvSpPr>
        <p:spPr>
          <a:xfrm>
            <a:off x="3182112" y="1048039"/>
            <a:ext cx="1153551" cy="64008"/>
          </a:xfrm>
          <a:prstGeom prst="rect">
            <a:avLst/>
          </a:prstGeom>
          <a:solidFill>
            <a:srgbClr val="1A5C8A"/>
          </a:solidFill>
          <a:ln w="12700">
            <a:solidFill>
              <a:srgbClr val="1A5C8A"/>
            </a:solidFill>
            <a:prstDash val="solid"/>
          </a:ln>
        </p:spPr>
        <p:txBody>
          <a:bodyPr/>
          <a:lstStyle/>
          <a:p>
            <a:endParaRPr lang="fr-FR" dirty="0"/>
          </a:p>
        </p:txBody>
      </p:sp>
      <p:sp>
        <p:nvSpPr>
          <p:cNvPr id="16" name="Text 14"/>
          <p:cNvSpPr/>
          <p:nvPr/>
        </p:nvSpPr>
        <p:spPr>
          <a:xfrm>
            <a:off x="3182112" y="1157767"/>
            <a:ext cx="1153551" cy="502920"/>
          </a:xfrm>
          <a:prstGeom prst="rect">
            <a:avLst/>
          </a:prstGeom>
          <a:noFill/>
          <a:ln/>
        </p:spPr>
        <p:txBody>
          <a:bodyPr wrap="square" lIns="0" tIns="0" rIns="0" bIns="0" rtlCol="0" anchor="ctr"/>
          <a:lstStyle/>
          <a:p>
            <a:pPr marL="0" indent="0" algn="ctr">
              <a:buNone/>
            </a:pPr>
            <a:r>
              <a:rPr lang="en-US" sz="2600" b="1" dirty="0">
                <a:solidFill>
                  <a:srgbClr val="1A5C8A"/>
                </a:solidFill>
                <a:latin typeface="Calibri" pitchFamily="34" charset="0"/>
                <a:ea typeface="Calibri" pitchFamily="34" charset="-122"/>
                <a:cs typeface="Calibri" pitchFamily="34" charset="-120"/>
              </a:rPr>
              <a:t>11</a:t>
            </a:r>
            <a:endParaRPr lang="en-US" sz="2600" dirty="0"/>
          </a:p>
        </p:txBody>
      </p:sp>
      <p:sp>
        <p:nvSpPr>
          <p:cNvPr id="17" name="Text 15"/>
          <p:cNvSpPr/>
          <p:nvPr/>
        </p:nvSpPr>
        <p:spPr>
          <a:xfrm>
            <a:off x="3182112" y="1614967"/>
            <a:ext cx="1153551" cy="292608"/>
          </a:xfrm>
          <a:prstGeom prst="rect">
            <a:avLst/>
          </a:prstGeom>
          <a:noFill/>
          <a:ln/>
        </p:spPr>
        <p:txBody>
          <a:bodyPr wrap="square" lIns="0" tIns="0" rIns="0" bIns="0" rtlCol="0" anchor="ctr"/>
          <a:lstStyle/>
          <a:p>
            <a:pPr marL="0" indent="0" algn="ctr">
              <a:buNone/>
            </a:pPr>
            <a:r>
              <a:rPr lang="en-US" sz="1000" dirty="0" err="1">
                <a:solidFill>
                  <a:srgbClr val="8499B0"/>
                </a:solidFill>
                <a:latin typeface="Calibri" pitchFamily="34" charset="0"/>
                <a:ea typeface="Calibri" pitchFamily="34" charset="-122"/>
                <a:cs typeface="Calibri" pitchFamily="34" charset="-120"/>
              </a:rPr>
              <a:t>traditionnelles</a:t>
            </a:r>
            <a:endParaRPr lang="en-US" sz="1000" dirty="0"/>
          </a:p>
        </p:txBody>
      </p:sp>
      <p:sp>
        <p:nvSpPr>
          <p:cNvPr id="18" name="Shape 16"/>
          <p:cNvSpPr/>
          <p:nvPr/>
        </p:nvSpPr>
        <p:spPr>
          <a:xfrm>
            <a:off x="4590288" y="1048039"/>
            <a:ext cx="1153551" cy="914400"/>
          </a:xfrm>
          <a:prstGeom prst="rect">
            <a:avLst/>
          </a:prstGeom>
          <a:solidFill>
            <a:srgbClr val="FFFFFF"/>
          </a:solidFill>
          <a:ln w="19050">
            <a:solidFill>
              <a:srgbClr val="0E8C8C"/>
            </a:solidFill>
            <a:prstDash val="solid"/>
          </a:ln>
          <a:effectLst>
            <a:outerShdw blurRad="101600" dist="38100" dir="8100000" algn="bl" rotWithShape="0">
              <a:srgbClr val="000000">
                <a:alpha val="18000"/>
              </a:srgbClr>
            </a:outerShdw>
          </a:effectLst>
        </p:spPr>
        <p:txBody>
          <a:bodyPr/>
          <a:lstStyle/>
          <a:p>
            <a:endParaRPr lang="fr-FR" dirty="0"/>
          </a:p>
        </p:txBody>
      </p:sp>
      <p:sp>
        <p:nvSpPr>
          <p:cNvPr id="19" name="Shape 17"/>
          <p:cNvSpPr/>
          <p:nvPr/>
        </p:nvSpPr>
        <p:spPr>
          <a:xfrm>
            <a:off x="4590288" y="1048039"/>
            <a:ext cx="1153551" cy="64008"/>
          </a:xfrm>
          <a:prstGeom prst="rect">
            <a:avLst/>
          </a:prstGeom>
          <a:solidFill>
            <a:srgbClr val="0E8C8C"/>
          </a:solidFill>
          <a:ln w="12700">
            <a:solidFill>
              <a:srgbClr val="0E8C8C"/>
            </a:solidFill>
            <a:prstDash val="solid"/>
          </a:ln>
        </p:spPr>
        <p:txBody>
          <a:bodyPr/>
          <a:lstStyle/>
          <a:p>
            <a:endParaRPr lang="fr-FR" dirty="0"/>
          </a:p>
        </p:txBody>
      </p:sp>
      <p:sp>
        <p:nvSpPr>
          <p:cNvPr id="20" name="Text 18"/>
          <p:cNvSpPr/>
          <p:nvPr/>
        </p:nvSpPr>
        <p:spPr>
          <a:xfrm>
            <a:off x="4590288" y="1157767"/>
            <a:ext cx="1153551" cy="502920"/>
          </a:xfrm>
          <a:prstGeom prst="rect">
            <a:avLst/>
          </a:prstGeom>
          <a:noFill/>
          <a:ln/>
        </p:spPr>
        <p:txBody>
          <a:bodyPr wrap="square" lIns="0" tIns="0" rIns="0" bIns="0" rtlCol="0" anchor="ctr"/>
          <a:lstStyle/>
          <a:p>
            <a:pPr marL="0" indent="0" algn="ctr">
              <a:buNone/>
            </a:pPr>
            <a:r>
              <a:rPr lang="en-US" sz="2600" b="1" dirty="0">
                <a:solidFill>
                  <a:srgbClr val="0E8C8C"/>
                </a:solidFill>
                <a:latin typeface="Calibri" pitchFamily="34" charset="0"/>
                <a:ea typeface="Calibri" pitchFamily="34" charset="-122"/>
                <a:cs typeface="Calibri" pitchFamily="34" charset="-120"/>
              </a:rPr>
              <a:t>39</a:t>
            </a:r>
            <a:endParaRPr lang="en-US" sz="2600" dirty="0"/>
          </a:p>
        </p:txBody>
      </p:sp>
      <p:sp>
        <p:nvSpPr>
          <p:cNvPr id="21" name="Text 19"/>
          <p:cNvSpPr/>
          <p:nvPr/>
        </p:nvSpPr>
        <p:spPr>
          <a:xfrm>
            <a:off x="4590288" y="1614967"/>
            <a:ext cx="1153551" cy="292608"/>
          </a:xfrm>
          <a:prstGeom prst="rect">
            <a:avLst/>
          </a:prstGeom>
          <a:noFill/>
          <a:ln/>
        </p:spPr>
        <p:txBody>
          <a:bodyPr wrap="square" lIns="0" tIns="0" rIns="0" bIns="0" rtlCol="0" anchor="ctr"/>
          <a:lstStyle/>
          <a:p>
            <a:pPr marL="0" indent="0" algn="ctr">
              <a:buNone/>
            </a:pPr>
            <a:r>
              <a:rPr lang="en-US" sz="1000" dirty="0" err="1">
                <a:solidFill>
                  <a:srgbClr val="8499B0"/>
                </a:solidFill>
                <a:latin typeface="Calibri" pitchFamily="34" charset="0"/>
                <a:ea typeface="Calibri" pitchFamily="34" charset="-122"/>
                <a:cs typeface="Calibri" pitchFamily="34" charset="-120"/>
              </a:rPr>
              <a:t>Télématamatiques</a:t>
            </a:r>
            <a:r>
              <a:rPr lang="en-US" sz="1000" dirty="0">
                <a:solidFill>
                  <a:srgbClr val="8499B0"/>
                </a:solidFill>
                <a:latin typeface="Calibri" pitchFamily="34" charset="0"/>
                <a:ea typeface="Calibri" pitchFamily="34" charset="-122"/>
                <a:cs typeface="Calibri" pitchFamily="34" charset="-120"/>
              </a:rPr>
              <a:t> </a:t>
            </a:r>
            <a:endParaRPr lang="en-US" sz="1000" dirty="0"/>
          </a:p>
        </p:txBody>
      </p:sp>
      <p:sp>
        <p:nvSpPr>
          <p:cNvPr id="22" name="Shape 20"/>
          <p:cNvSpPr/>
          <p:nvPr/>
        </p:nvSpPr>
        <p:spPr>
          <a:xfrm>
            <a:off x="5998464" y="1048039"/>
            <a:ext cx="1153551" cy="914400"/>
          </a:xfrm>
          <a:prstGeom prst="rect">
            <a:avLst/>
          </a:prstGeom>
          <a:solidFill>
            <a:srgbClr val="FFFFFF"/>
          </a:solidFill>
          <a:ln w="19050">
            <a:solidFill>
              <a:srgbClr val="1A8C5A"/>
            </a:solidFill>
            <a:prstDash val="solid"/>
          </a:ln>
          <a:effectLst>
            <a:outerShdw blurRad="101600" dist="38100" dir="8100000" algn="bl" rotWithShape="0">
              <a:srgbClr val="000000">
                <a:alpha val="18000"/>
              </a:srgbClr>
            </a:outerShdw>
          </a:effectLst>
        </p:spPr>
        <p:txBody>
          <a:bodyPr/>
          <a:lstStyle/>
          <a:p>
            <a:endParaRPr lang="fr-FR" dirty="0"/>
          </a:p>
        </p:txBody>
      </p:sp>
      <p:sp>
        <p:nvSpPr>
          <p:cNvPr id="23" name="Shape 21"/>
          <p:cNvSpPr/>
          <p:nvPr/>
        </p:nvSpPr>
        <p:spPr>
          <a:xfrm>
            <a:off x="5998464" y="1048039"/>
            <a:ext cx="1153551" cy="64008"/>
          </a:xfrm>
          <a:prstGeom prst="rect">
            <a:avLst/>
          </a:prstGeom>
          <a:solidFill>
            <a:srgbClr val="1A8C5A"/>
          </a:solidFill>
          <a:ln w="12700">
            <a:solidFill>
              <a:srgbClr val="1A8C5A"/>
            </a:solidFill>
            <a:prstDash val="solid"/>
          </a:ln>
        </p:spPr>
        <p:txBody>
          <a:bodyPr/>
          <a:lstStyle/>
          <a:p>
            <a:endParaRPr lang="fr-FR" dirty="0"/>
          </a:p>
        </p:txBody>
      </p:sp>
      <p:sp>
        <p:nvSpPr>
          <p:cNvPr id="24" name="Text 22"/>
          <p:cNvSpPr/>
          <p:nvPr/>
        </p:nvSpPr>
        <p:spPr>
          <a:xfrm>
            <a:off x="5998464" y="1157767"/>
            <a:ext cx="1153551" cy="502920"/>
          </a:xfrm>
          <a:prstGeom prst="rect">
            <a:avLst/>
          </a:prstGeom>
          <a:noFill/>
          <a:ln/>
        </p:spPr>
        <p:txBody>
          <a:bodyPr wrap="square" lIns="0" tIns="0" rIns="0" bIns="0" rtlCol="0" anchor="ctr"/>
          <a:lstStyle/>
          <a:p>
            <a:pPr marL="0" indent="0" algn="ctr">
              <a:buNone/>
            </a:pPr>
            <a:r>
              <a:rPr lang="en-US" sz="2600" b="1" dirty="0">
                <a:solidFill>
                  <a:srgbClr val="1A8C5A"/>
                </a:solidFill>
                <a:latin typeface="Calibri" pitchFamily="34" charset="0"/>
                <a:ea typeface="Calibri" pitchFamily="34" charset="-122"/>
                <a:cs typeface="Calibri" pitchFamily="34" charset="-120"/>
              </a:rPr>
              <a:t>0</a:t>
            </a:r>
            <a:endParaRPr lang="en-US" sz="2600" dirty="0"/>
          </a:p>
        </p:txBody>
      </p:sp>
      <p:sp>
        <p:nvSpPr>
          <p:cNvPr id="25" name="Text 23"/>
          <p:cNvSpPr/>
          <p:nvPr/>
        </p:nvSpPr>
        <p:spPr>
          <a:xfrm>
            <a:off x="5998464" y="1614967"/>
            <a:ext cx="1153551" cy="292608"/>
          </a:xfrm>
          <a:prstGeom prst="rect">
            <a:avLst/>
          </a:prstGeom>
          <a:noFill/>
          <a:ln/>
        </p:spPr>
        <p:txBody>
          <a:bodyPr wrap="square" lIns="0" tIns="0" rIns="0" bIns="0" rtlCol="0" anchor="ctr"/>
          <a:lstStyle/>
          <a:p>
            <a:pPr marL="0" indent="0" algn="ctr">
              <a:buNone/>
            </a:pPr>
            <a:r>
              <a:rPr lang="en-US" sz="1000" dirty="0">
                <a:solidFill>
                  <a:srgbClr val="8499B0"/>
                </a:solidFill>
                <a:latin typeface="Calibri" pitchFamily="34" charset="0"/>
                <a:ea typeface="Calibri" pitchFamily="34" charset="-122"/>
                <a:cs typeface="Calibri" pitchFamily="34" charset="-120"/>
              </a:rPr>
              <a:t>NaN / doublon</a:t>
            </a:r>
            <a:endParaRPr lang="en-US" sz="1000" dirty="0"/>
          </a:p>
        </p:txBody>
      </p:sp>
      <p:sp>
        <p:nvSpPr>
          <p:cNvPr id="26" name="Shape 24"/>
          <p:cNvSpPr/>
          <p:nvPr/>
        </p:nvSpPr>
        <p:spPr>
          <a:xfrm>
            <a:off x="7406640" y="1048039"/>
            <a:ext cx="1153551" cy="914400"/>
          </a:xfrm>
          <a:prstGeom prst="rect">
            <a:avLst/>
          </a:prstGeom>
          <a:solidFill>
            <a:srgbClr val="FFFFFF"/>
          </a:solidFill>
          <a:ln w="19050">
            <a:solidFill>
              <a:srgbClr val="E07B2A"/>
            </a:solidFill>
            <a:prstDash val="solid"/>
          </a:ln>
          <a:effectLst>
            <a:outerShdw blurRad="101600" dist="38100" dir="8100000" algn="bl" rotWithShape="0">
              <a:srgbClr val="000000">
                <a:alpha val="18000"/>
              </a:srgbClr>
            </a:outerShdw>
          </a:effectLst>
        </p:spPr>
        <p:txBody>
          <a:bodyPr/>
          <a:lstStyle/>
          <a:p>
            <a:endParaRPr lang="fr-FR" dirty="0"/>
          </a:p>
        </p:txBody>
      </p:sp>
      <p:sp>
        <p:nvSpPr>
          <p:cNvPr id="27" name="Shape 25"/>
          <p:cNvSpPr/>
          <p:nvPr/>
        </p:nvSpPr>
        <p:spPr>
          <a:xfrm>
            <a:off x="7406640" y="1048039"/>
            <a:ext cx="1153551" cy="64008"/>
          </a:xfrm>
          <a:prstGeom prst="rect">
            <a:avLst/>
          </a:prstGeom>
          <a:solidFill>
            <a:srgbClr val="E07B2A"/>
          </a:solidFill>
          <a:ln w="12700">
            <a:solidFill>
              <a:srgbClr val="E07B2A"/>
            </a:solidFill>
            <a:prstDash val="solid"/>
          </a:ln>
        </p:spPr>
        <p:txBody>
          <a:bodyPr/>
          <a:lstStyle/>
          <a:p>
            <a:endParaRPr lang="fr-FR" dirty="0"/>
          </a:p>
        </p:txBody>
      </p:sp>
      <p:sp>
        <p:nvSpPr>
          <p:cNvPr id="28" name="Text 26"/>
          <p:cNvSpPr/>
          <p:nvPr/>
        </p:nvSpPr>
        <p:spPr>
          <a:xfrm>
            <a:off x="7406640" y="1157767"/>
            <a:ext cx="1153551" cy="502920"/>
          </a:xfrm>
          <a:prstGeom prst="rect">
            <a:avLst/>
          </a:prstGeom>
          <a:noFill/>
          <a:ln/>
        </p:spPr>
        <p:txBody>
          <a:bodyPr wrap="square" lIns="0" tIns="0" rIns="0" bIns="0" rtlCol="0" anchor="ctr"/>
          <a:lstStyle/>
          <a:p>
            <a:pPr marL="0" indent="0" algn="ctr">
              <a:buNone/>
            </a:pPr>
            <a:r>
              <a:rPr lang="en-US" sz="2600" b="1" dirty="0">
                <a:solidFill>
                  <a:srgbClr val="E07B2A"/>
                </a:solidFill>
                <a:latin typeface="Calibri" pitchFamily="34" charset="0"/>
                <a:ea typeface="Calibri" pitchFamily="34" charset="-122"/>
                <a:cs typeface="Calibri" pitchFamily="34" charset="-120"/>
              </a:rPr>
              <a:t>4,3 %</a:t>
            </a:r>
            <a:endParaRPr lang="en-US" sz="2600" dirty="0"/>
          </a:p>
        </p:txBody>
      </p:sp>
      <p:sp>
        <p:nvSpPr>
          <p:cNvPr id="29" name="Text 27"/>
          <p:cNvSpPr/>
          <p:nvPr/>
        </p:nvSpPr>
        <p:spPr>
          <a:xfrm>
            <a:off x="7406640" y="1614967"/>
            <a:ext cx="1153551" cy="292608"/>
          </a:xfrm>
          <a:prstGeom prst="rect">
            <a:avLst/>
          </a:prstGeom>
          <a:noFill/>
          <a:ln/>
        </p:spPr>
        <p:txBody>
          <a:bodyPr wrap="square" lIns="0" tIns="0" rIns="0" bIns="0" rtlCol="0" anchor="ctr"/>
          <a:lstStyle/>
          <a:p>
            <a:pPr marL="0" indent="0" algn="ctr">
              <a:buNone/>
            </a:pPr>
            <a:r>
              <a:rPr lang="en-US" sz="1000" dirty="0">
                <a:solidFill>
                  <a:srgbClr val="8499B0"/>
                </a:solidFill>
                <a:latin typeface="Calibri" pitchFamily="34" charset="0"/>
                <a:ea typeface="Calibri" pitchFamily="34" charset="-122"/>
                <a:cs typeface="Calibri" pitchFamily="34" charset="-120"/>
              </a:rPr>
              <a:t>taux sinistres</a:t>
            </a:r>
            <a:endParaRPr lang="en-US" sz="1000" dirty="0"/>
          </a:p>
        </p:txBody>
      </p:sp>
      <p:pic>
        <p:nvPicPr>
          <p:cNvPr id="47" name="Picture 46">
            <a:extLst>
              <a:ext uri="{FF2B5EF4-FFF2-40B4-BE49-F238E27FC236}">
                <a16:creationId xmlns:a16="http://schemas.microsoft.com/office/drawing/2014/main" id="{D1E66B22-C2FD-06A3-3A3D-4656306D2C4D}"/>
              </a:ext>
            </a:extLst>
          </p:cNvPr>
          <p:cNvPicPr>
            <a:picLocks noChangeAspect="1"/>
          </p:cNvPicPr>
          <p:nvPr/>
        </p:nvPicPr>
        <p:blipFill>
          <a:blip r:embed="rId3"/>
          <a:stretch>
            <a:fillRect/>
          </a:stretch>
        </p:blipFill>
        <p:spPr>
          <a:xfrm>
            <a:off x="407965" y="2029431"/>
            <a:ext cx="8152226" cy="1468903"/>
          </a:xfrm>
          <a:prstGeom prst="rect">
            <a:avLst/>
          </a:prstGeom>
        </p:spPr>
      </p:pic>
      <p:pic>
        <p:nvPicPr>
          <p:cNvPr id="48" name="Picture 47">
            <a:extLst>
              <a:ext uri="{FF2B5EF4-FFF2-40B4-BE49-F238E27FC236}">
                <a16:creationId xmlns:a16="http://schemas.microsoft.com/office/drawing/2014/main" id="{E4EDC035-C91C-333C-4BCC-DB593A998EB3}"/>
              </a:ext>
            </a:extLst>
          </p:cNvPr>
          <p:cNvPicPr>
            <a:picLocks noChangeAspect="1"/>
          </p:cNvPicPr>
          <p:nvPr/>
        </p:nvPicPr>
        <p:blipFill>
          <a:blip r:embed="rId4"/>
          <a:stretch>
            <a:fillRect/>
          </a:stretch>
        </p:blipFill>
        <p:spPr>
          <a:xfrm>
            <a:off x="411479" y="3526670"/>
            <a:ext cx="8148711" cy="15904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Analyse Exploratoire (EDA) — Résultats Clés</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6" name="TextBox 5">
            <a:extLst>
              <a:ext uri="{FF2B5EF4-FFF2-40B4-BE49-F238E27FC236}">
                <a16:creationId xmlns:a16="http://schemas.microsoft.com/office/drawing/2014/main" id="{7A8EFA39-9C81-AE71-5763-6175795082D6}"/>
              </a:ext>
            </a:extLst>
          </p:cNvPr>
          <p:cNvSpPr txBox="1"/>
          <p:nvPr/>
        </p:nvSpPr>
        <p:spPr>
          <a:xfrm>
            <a:off x="384810" y="987553"/>
            <a:ext cx="8374380" cy="523220"/>
          </a:xfrm>
          <a:prstGeom prst="rect">
            <a:avLst/>
          </a:prstGeom>
          <a:noFill/>
        </p:spPr>
        <p:txBody>
          <a:bodyPr wrap="square" rtlCol="0">
            <a:spAutoFit/>
          </a:bodyPr>
          <a:lstStyle/>
          <a:p>
            <a:r>
              <a:rPr lang="fr-FR" sz="1400" dirty="0"/>
              <a:t>L’analyse exploratoire (EDA — </a:t>
            </a:r>
            <a:r>
              <a:rPr lang="fr-FR" sz="1400" dirty="0" err="1"/>
              <a:t>Exploratory</a:t>
            </a:r>
            <a:r>
              <a:rPr lang="fr-FR" sz="1400" dirty="0"/>
              <a:t> Data </a:t>
            </a:r>
            <a:r>
              <a:rPr lang="fr-FR" sz="1400" dirty="0" err="1"/>
              <a:t>Analysis</a:t>
            </a:r>
            <a:r>
              <a:rPr lang="fr-FR" sz="1400" dirty="0"/>
              <a:t>) vise à comprendre la structure du jeu de données, identifier les patterns et formuler des hypothèses sur les facteurs de risque, avant toute modélisation formelle.</a:t>
            </a:r>
            <a:endParaRPr lang="en-US" sz="1400" dirty="0"/>
          </a:p>
        </p:txBody>
      </p:sp>
      <p:pic>
        <p:nvPicPr>
          <p:cNvPr id="8" name="Picture 7">
            <a:extLst>
              <a:ext uri="{FF2B5EF4-FFF2-40B4-BE49-F238E27FC236}">
                <a16:creationId xmlns:a16="http://schemas.microsoft.com/office/drawing/2014/main" id="{3C9A3F2C-D239-B574-C5A3-FD1EE2018316}"/>
              </a:ext>
            </a:extLst>
          </p:cNvPr>
          <p:cNvPicPr>
            <a:picLocks noChangeAspect="1"/>
          </p:cNvPicPr>
          <p:nvPr/>
        </p:nvPicPr>
        <p:blipFill>
          <a:blip r:embed="rId3"/>
          <a:stretch>
            <a:fillRect/>
          </a:stretch>
        </p:blipFill>
        <p:spPr>
          <a:xfrm>
            <a:off x="3298873" y="1617164"/>
            <a:ext cx="2111325" cy="1236527"/>
          </a:xfrm>
          <a:prstGeom prst="rect">
            <a:avLst/>
          </a:prstGeom>
        </p:spPr>
      </p:pic>
      <p:sp>
        <p:nvSpPr>
          <p:cNvPr id="9" name="TextBox 8">
            <a:extLst>
              <a:ext uri="{FF2B5EF4-FFF2-40B4-BE49-F238E27FC236}">
                <a16:creationId xmlns:a16="http://schemas.microsoft.com/office/drawing/2014/main" id="{3DC0DD42-1743-3892-A873-A11CF1294B5E}"/>
              </a:ext>
            </a:extLst>
          </p:cNvPr>
          <p:cNvSpPr txBox="1"/>
          <p:nvPr/>
        </p:nvSpPr>
        <p:spPr>
          <a:xfrm>
            <a:off x="3368040" y="2960082"/>
            <a:ext cx="2202180" cy="646331"/>
          </a:xfrm>
          <a:prstGeom prst="rect">
            <a:avLst/>
          </a:prstGeom>
          <a:noFill/>
        </p:spPr>
        <p:txBody>
          <a:bodyPr wrap="square" rtlCol="0">
            <a:spAutoFit/>
          </a:bodyPr>
          <a:lstStyle/>
          <a:p>
            <a:r>
              <a:rPr lang="fr-FR" sz="900" dirty="0"/>
              <a:t>La logique d’exposition au risque est confirmée : plus un conducteur parcourt de kilomètres, plus le risque d’accident augmente</a:t>
            </a:r>
            <a:endParaRPr lang="en-US" sz="900" dirty="0"/>
          </a:p>
        </p:txBody>
      </p:sp>
      <p:pic>
        <p:nvPicPr>
          <p:cNvPr id="11" name="Picture 10">
            <a:extLst>
              <a:ext uri="{FF2B5EF4-FFF2-40B4-BE49-F238E27FC236}">
                <a16:creationId xmlns:a16="http://schemas.microsoft.com/office/drawing/2014/main" id="{147DD6AC-52E9-4024-DA15-C4D7C77D1214}"/>
              </a:ext>
            </a:extLst>
          </p:cNvPr>
          <p:cNvPicPr>
            <a:picLocks noChangeAspect="1"/>
          </p:cNvPicPr>
          <p:nvPr/>
        </p:nvPicPr>
        <p:blipFill>
          <a:blip r:embed="rId4"/>
          <a:stretch>
            <a:fillRect/>
          </a:stretch>
        </p:blipFill>
        <p:spPr>
          <a:xfrm>
            <a:off x="568203" y="1714456"/>
            <a:ext cx="2342637" cy="1173524"/>
          </a:xfrm>
          <a:prstGeom prst="rect">
            <a:avLst/>
          </a:prstGeom>
        </p:spPr>
      </p:pic>
      <p:pic>
        <p:nvPicPr>
          <p:cNvPr id="13" name="Picture 12">
            <a:extLst>
              <a:ext uri="{FF2B5EF4-FFF2-40B4-BE49-F238E27FC236}">
                <a16:creationId xmlns:a16="http://schemas.microsoft.com/office/drawing/2014/main" id="{BAB08375-BB8D-7434-B1CF-EFFAA6E7F2AE}"/>
              </a:ext>
            </a:extLst>
          </p:cNvPr>
          <p:cNvPicPr>
            <a:picLocks noChangeAspect="1"/>
          </p:cNvPicPr>
          <p:nvPr/>
        </p:nvPicPr>
        <p:blipFill>
          <a:blip r:embed="rId5"/>
          <a:stretch>
            <a:fillRect/>
          </a:stretch>
        </p:blipFill>
        <p:spPr>
          <a:xfrm>
            <a:off x="5935979" y="1630179"/>
            <a:ext cx="2323831" cy="1236526"/>
          </a:xfrm>
          <a:prstGeom prst="rect">
            <a:avLst/>
          </a:prstGeom>
        </p:spPr>
      </p:pic>
      <p:sp>
        <p:nvSpPr>
          <p:cNvPr id="14" name="TextBox 13">
            <a:extLst>
              <a:ext uri="{FF2B5EF4-FFF2-40B4-BE49-F238E27FC236}">
                <a16:creationId xmlns:a16="http://schemas.microsoft.com/office/drawing/2014/main" id="{0C52EA4C-0D83-61CE-D3F6-1F4F31918F27}"/>
              </a:ext>
            </a:extLst>
          </p:cNvPr>
          <p:cNvSpPr txBox="1"/>
          <p:nvPr/>
        </p:nvSpPr>
        <p:spPr>
          <a:xfrm>
            <a:off x="5798231" y="2825672"/>
            <a:ext cx="3307959" cy="1061829"/>
          </a:xfrm>
          <a:prstGeom prst="rect">
            <a:avLst/>
          </a:prstGeom>
          <a:noFill/>
        </p:spPr>
        <p:txBody>
          <a:bodyPr wrap="square" rtlCol="0">
            <a:spAutoFit/>
          </a:bodyPr>
          <a:lstStyle/>
          <a:p>
            <a:r>
              <a:rPr lang="fr-FR" sz="900" dirty="0"/>
              <a:t>On observe plusieurs relations attendues, notamment entre l’âge et les années sans sinistre (r = 0,82) ainsi qu’entre le nombre et le montant des sinistres (r = 0,57), tout en révélant une </a:t>
            </a:r>
            <a:r>
              <a:rPr lang="fr-FR" sz="900" dirty="0" err="1"/>
              <a:t>multicolinéarité</a:t>
            </a:r>
            <a:r>
              <a:rPr lang="fr-FR" sz="900" dirty="0"/>
              <a:t> à traiter avant modélisation. Et la faible corrélation des variables traditionnelles avec </a:t>
            </a:r>
            <a:r>
              <a:rPr lang="fr-FR" sz="900" dirty="0" err="1"/>
              <a:t>NB_Claim</a:t>
            </a:r>
            <a:r>
              <a:rPr lang="fr-FR" sz="900" dirty="0"/>
              <a:t> souligne l’importance des variables télématiques pour la prédiction des sinistres.</a:t>
            </a:r>
            <a:endParaRPr lang="en-US" sz="900" dirty="0"/>
          </a:p>
        </p:txBody>
      </p:sp>
      <p:sp>
        <p:nvSpPr>
          <p:cNvPr id="17" name="TextBox 16">
            <a:extLst>
              <a:ext uri="{FF2B5EF4-FFF2-40B4-BE49-F238E27FC236}">
                <a16:creationId xmlns:a16="http://schemas.microsoft.com/office/drawing/2014/main" id="{E844B9F7-7BB8-8FEC-11FF-630D97AC4CBA}"/>
              </a:ext>
            </a:extLst>
          </p:cNvPr>
          <p:cNvSpPr txBox="1"/>
          <p:nvPr/>
        </p:nvSpPr>
        <p:spPr>
          <a:xfrm>
            <a:off x="643890" y="3859482"/>
            <a:ext cx="7734300" cy="1200329"/>
          </a:xfrm>
          <a:prstGeom prst="rect">
            <a:avLst/>
          </a:prstGeom>
          <a:noFill/>
        </p:spPr>
        <p:txBody>
          <a:bodyPr wrap="square" rtlCol="0">
            <a:spAutoFit/>
          </a:bodyPr>
          <a:lstStyle/>
          <a:p>
            <a:r>
              <a:rPr lang="fr-FR" dirty="0"/>
              <a:t>Synthèse EDA : les variables télématiques montrent des signaux individuellement modestes mais collectivement exploitables. </a:t>
            </a:r>
            <a:r>
              <a:rPr lang="fr-FR" dirty="0" err="1"/>
              <a:t>XGBoost</a:t>
            </a:r>
            <a:r>
              <a:rPr lang="fr-FR" dirty="0"/>
              <a:t>, capable de capturer des interactions non linéaires entre variables, est particulièrement adapté à ce type de signal diffus</a:t>
            </a:r>
            <a:endParaRPr lang="en-US" b="1" dirty="0"/>
          </a:p>
        </p:txBody>
      </p:sp>
      <p:sp>
        <p:nvSpPr>
          <p:cNvPr id="7" name="TextBox 6">
            <a:extLst>
              <a:ext uri="{FF2B5EF4-FFF2-40B4-BE49-F238E27FC236}">
                <a16:creationId xmlns:a16="http://schemas.microsoft.com/office/drawing/2014/main" id="{81E15AF0-96B2-6EB0-4FD0-6BB1346550AA}"/>
              </a:ext>
            </a:extLst>
          </p:cNvPr>
          <p:cNvSpPr txBox="1"/>
          <p:nvPr/>
        </p:nvSpPr>
        <p:spPr>
          <a:xfrm>
            <a:off x="568203" y="2887980"/>
            <a:ext cx="2479798" cy="784830"/>
          </a:xfrm>
          <a:prstGeom prst="rect">
            <a:avLst/>
          </a:prstGeom>
          <a:noFill/>
        </p:spPr>
        <p:txBody>
          <a:bodyPr wrap="square" rtlCol="0">
            <a:spAutoFit/>
          </a:bodyPr>
          <a:lstStyle/>
          <a:p>
            <a:r>
              <a:rPr lang="fr-FR" sz="900" dirty="0"/>
              <a:t>0 —aucun sinistre (95728), 1 —un sinistre(4064) , 2 —deux sinistres( 192), 3 —trois sinistres (16).</a:t>
            </a:r>
          </a:p>
          <a:p>
            <a:r>
              <a:rPr lang="fr-FR" sz="900" dirty="0"/>
              <a:t>Le déséquilibre est caractéristique des portefeuilles. un taux de sinistres de 4,3% correspond à des portefeuilles réels.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Feature Engineering &amp; Pipeline de Traitement</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7" name="TextBox 6">
            <a:extLst>
              <a:ext uri="{FF2B5EF4-FFF2-40B4-BE49-F238E27FC236}">
                <a16:creationId xmlns:a16="http://schemas.microsoft.com/office/drawing/2014/main" id="{DE0970E8-A7D5-4527-616C-E033D8367286}"/>
              </a:ext>
            </a:extLst>
          </p:cNvPr>
          <p:cNvSpPr txBox="1"/>
          <p:nvPr/>
        </p:nvSpPr>
        <p:spPr>
          <a:xfrm>
            <a:off x="335280" y="577185"/>
            <a:ext cx="8077200" cy="400110"/>
          </a:xfrm>
          <a:prstGeom prst="rect">
            <a:avLst/>
          </a:prstGeom>
          <a:noFill/>
        </p:spPr>
        <p:txBody>
          <a:bodyPr wrap="square" rtlCol="0">
            <a:spAutoFit/>
          </a:bodyPr>
          <a:lstStyle/>
          <a:p>
            <a:r>
              <a:rPr lang="fr-FR" sz="1000" dirty="0">
                <a:solidFill>
                  <a:srgbClr val="002060"/>
                </a:solidFill>
              </a:rPr>
              <a:t>Le </a:t>
            </a:r>
            <a:r>
              <a:rPr lang="fr-FR" sz="1000" dirty="0" err="1">
                <a:solidFill>
                  <a:srgbClr val="002060"/>
                </a:solidFill>
              </a:rPr>
              <a:t>feature</a:t>
            </a:r>
            <a:r>
              <a:rPr lang="fr-FR" sz="1000" dirty="0">
                <a:solidFill>
                  <a:srgbClr val="002060"/>
                </a:solidFill>
              </a:rPr>
              <a:t> engineering consiste à construire de nouvelles variables à partir des variables brutes, de façon à rendre l’information plus accessible aux algorithmes de modélisation. Trois variables dérivées ont été construites</a:t>
            </a:r>
            <a:endParaRPr lang="en-US" sz="1000" dirty="0">
              <a:solidFill>
                <a:srgbClr val="002060"/>
              </a:solidFill>
            </a:endParaRPr>
          </a:p>
        </p:txBody>
      </p:sp>
      <p:sp>
        <p:nvSpPr>
          <p:cNvPr id="8" name="TextBox 7">
            <a:extLst>
              <a:ext uri="{FF2B5EF4-FFF2-40B4-BE49-F238E27FC236}">
                <a16:creationId xmlns:a16="http://schemas.microsoft.com/office/drawing/2014/main" id="{90AD7B24-93B6-3F2F-7A11-334CF133E802}"/>
              </a:ext>
            </a:extLst>
          </p:cNvPr>
          <p:cNvSpPr txBox="1"/>
          <p:nvPr/>
        </p:nvSpPr>
        <p:spPr>
          <a:xfrm>
            <a:off x="457200" y="1205222"/>
            <a:ext cx="4906343" cy="369332"/>
          </a:xfrm>
          <a:prstGeom prst="rect">
            <a:avLst/>
          </a:prstGeom>
          <a:noFill/>
        </p:spPr>
        <p:txBody>
          <a:bodyPr wrap="none" rtlCol="0">
            <a:spAutoFit/>
          </a:bodyPr>
          <a:lstStyle/>
          <a:p>
            <a:pPr marL="285750" indent="-285750">
              <a:buFont typeface="Wingdings" panose="05000000000000000000" pitchFamily="2" charset="2"/>
              <a:buChar char="§"/>
            </a:pPr>
            <a:r>
              <a:rPr lang="fr-FR" dirty="0"/>
              <a:t>Variable </a:t>
            </a:r>
            <a:r>
              <a:rPr lang="fr-FR" dirty="0" err="1"/>
              <a:t>Exposure</a:t>
            </a:r>
            <a:r>
              <a:rPr lang="fr-FR" dirty="0"/>
              <a:t> — Fraction d’année couverte</a:t>
            </a:r>
            <a:endParaRPr lang="en-US" dirty="0"/>
          </a:p>
        </p:txBody>
      </p:sp>
      <p:pic>
        <p:nvPicPr>
          <p:cNvPr id="10" name="Picture 9">
            <a:extLst>
              <a:ext uri="{FF2B5EF4-FFF2-40B4-BE49-F238E27FC236}">
                <a16:creationId xmlns:a16="http://schemas.microsoft.com/office/drawing/2014/main" id="{CC4F19DA-71EA-AEA4-F148-67CFB4386401}"/>
              </a:ext>
            </a:extLst>
          </p:cNvPr>
          <p:cNvPicPr>
            <a:picLocks noChangeAspect="1"/>
          </p:cNvPicPr>
          <p:nvPr/>
        </p:nvPicPr>
        <p:blipFill>
          <a:blip r:embed="rId3"/>
          <a:stretch>
            <a:fillRect/>
          </a:stretch>
        </p:blipFill>
        <p:spPr>
          <a:xfrm>
            <a:off x="662941" y="1637947"/>
            <a:ext cx="2941320" cy="649551"/>
          </a:xfrm>
          <a:prstGeom prst="rect">
            <a:avLst/>
          </a:prstGeom>
        </p:spPr>
      </p:pic>
      <p:sp>
        <p:nvSpPr>
          <p:cNvPr id="11" name="TextBox 10">
            <a:extLst>
              <a:ext uri="{FF2B5EF4-FFF2-40B4-BE49-F238E27FC236}">
                <a16:creationId xmlns:a16="http://schemas.microsoft.com/office/drawing/2014/main" id="{9D3DC730-4057-1370-1C37-06572CEC7545}"/>
              </a:ext>
            </a:extLst>
          </p:cNvPr>
          <p:cNvSpPr txBox="1"/>
          <p:nvPr/>
        </p:nvSpPr>
        <p:spPr>
          <a:xfrm>
            <a:off x="457200" y="2564368"/>
            <a:ext cx="4872809" cy="369332"/>
          </a:xfrm>
          <a:prstGeom prst="rect">
            <a:avLst/>
          </a:prstGeom>
          <a:noFill/>
        </p:spPr>
        <p:txBody>
          <a:bodyPr wrap="none" rtlCol="0">
            <a:spAutoFit/>
          </a:bodyPr>
          <a:lstStyle/>
          <a:p>
            <a:pPr marL="285750" indent="-285750">
              <a:buFont typeface="Wingdings" panose="05000000000000000000" pitchFamily="2" charset="2"/>
              <a:buChar char="§"/>
            </a:pPr>
            <a:r>
              <a:rPr lang="en-US" dirty="0"/>
              <a:t>Variable </a:t>
            </a:r>
            <a:r>
              <a:rPr lang="en-US" dirty="0" err="1"/>
              <a:t>Expected_miles</a:t>
            </a:r>
            <a:r>
              <a:rPr lang="en-US" dirty="0"/>
              <a:t> — </a:t>
            </a:r>
            <a:r>
              <a:rPr lang="en-US" dirty="0" err="1"/>
              <a:t>Kilométrage</a:t>
            </a:r>
            <a:r>
              <a:rPr lang="en-US" dirty="0"/>
              <a:t> attend</a:t>
            </a:r>
          </a:p>
        </p:txBody>
      </p:sp>
      <p:pic>
        <p:nvPicPr>
          <p:cNvPr id="13" name="Picture 12">
            <a:extLst>
              <a:ext uri="{FF2B5EF4-FFF2-40B4-BE49-F238E27FC236}">
                <a16:creationId xmlns:a16="http://schemas.microsoft.com/office/drawing/2014/main" id="{B1AB454F-AD53-D881-B506-B006892F4D7D}"/>
              </a:ext>
            </a:extLst>
          </p:cNvPr>
          <p:cNvPicPr>
            <a:picLocks noChangeAspect="1"/>
          </p:cNvPicPr>
          <p:nvPr/>
        </p:nvPicPr>
        <p:blipFill>
          <a:blip r:embed="rId4"/>
          <a:stretch>
            <a:fillRect/>
          </a:stretch>
        </p:blipFill>
        <p:spPr>
          <a:xfrm>
            <a:off x="662941" y="3035999"/>
            <a:ext cx="5112013" cy="482625"/>
          </a:xfrm>
          <a:prstGeom prst="rect">
            <a:avLst/>
          </a:prstGeom>
        </p:spPr>
      </p:pic>
      <p:sp>
        <p:nvSpPr>
          <p:cNvPr id="14" name="TextBox 13">
            <a:extLst>
              <a:ext uri="{FF2B5EF4-FFF2-40B4-BE49-F238E27FC236}">
                <a16:creationId xmlns:a16="http://schemas.microsoft.com/office/drawing/2014/main" id="{01AD2E7E-5BA3-B4EF-A713-BB2A3AED3CFB}"/>
              </a:ext>
            </a:extLst>
          </p:cNvPr>
          <p:cNvSpPr txBox="1"/>
          <p:nvPr/>
        </p:nvSpPr>
        <p:spPr>
          <a:xfrm>
            <a:off x="411480" y="3738848"/>
            <a:ext cx="7627619" cy="369332"/>
          </a:xfrm>
          <a:prstGeom prst="rect">
            <a:avLst/>
          </a:prstGeom>
          <a:noFill/>
        </p:spPr>
        <p:txBody>
          <a:bodyPr wrap="square" rtlCol="0">
            <a:spAutoFit/>
          </a:bodyPr>
          <a:lstStyle/>
          <a:p>
            <a:pPr marL="285750" indent="-285750">
              <a:buFont typeface="Wingdings" panose="05000000000000000000" pitchFamily="2" charset="2"/>
              <a:buChar char="§"/>
            </a:pPr>
            <a:r>
              <a:rPr lang="fr-FR" dirty="0"/>
              <a:t>Variable </a:t>
            </a:r>
            <a:r>
              <a:rPr lang="fr-FR" dirty="0" err="1"/>
              <a:t>mileage_ratio</a:t>
            </a:r>
            <a:r>
              <a:rPr lang="fr-FR" dirty="0"/>
              <a:t> — Ratio kilométrage réel/attendu</a:t>
            </a:r>
            <a:endParaRPr lang="en-US" dirty="0"/>
          </a:p>
        </p:txBody>
      </p:sp>
      <p:pic>
        <p:nvPicPr>
          <p:cNvPr id="16" name="Picture 15">
            <a:extLst>
              <a:ext uri="{FF2B5EF4-FFF2-40B4-BE49-F238E27FC236}">
                <a16:creationId xmlns:a16="http://schemas.microsoft.com/office/drawing/2014/main" id="{0A64628F-048D-70A6-173A-4862396D6CF8}"/>
              </a:ext>
            </a:extLst>
          </p:cNvPr>
          <p:cNvPicPr>
            <a:picLocks noChangeAspect="1"/>
          </p:cNvPicPr>
          <p:nvPr/>
        </p:nvPicPr>
        <p:blipFill>
          <a:blip r:embed="rId5"/>
          <a:stretch>
            <a:fillRect/>
          </a:stretch>
        </p:blipFill>
        <p:spPr>
          <a:xfrm>
            <a:off x="662941" y="4239273"/>
            <a:ext cx="5340624" cy="6540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Modélisation — Phase 2 : Modèles Baselines</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r>
              <a:rPr lang="fr-FR" sz="1200" dirty="0">
                <a:solidFill>
                  <a:srgbClr val="002060"/>
                </a:solidFill>
              </a:rPr>
              <a:t>Préparation pour la modélisation : définition de la cible, gestion de la colinéarité, split et pipelines.</a:t>
            </a:r>
            <a:endParaRPr lang="en-US" sz="1200" dirty="0">
              <a:solidFill>
                <a:srgbClr val="002060"/>
              </a:solidFill>
            </a:endParaRPr>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6" name="TextBox 5">
            <a:extLst>
              <a:ext uri="{FF2B5EF4-FFF2-40B4-BE49-F238E27FC236}">
                <a16:creationId xmlns:a16="http://schemas.microsoft.com/office/drawing/2014/main" id="{76F657C3-1E3C-E111-E542-35F3622FC857}"/>
              </a:ext>
            </a:extLst>
          </p:cNvPr>
          <p:cNvSpPr txBox="1"/>
          <p:nvPr/>
        </p:nvSpPr>
        <p:spPr>
          <a:xfrm>
            <a:off x="411480" y="1135380"/>
            <a:ext cx="7536180" cy="1569660"/>
          </a:xfrm>
          <a:prstGeom prst="rect">
            <a:avLst/>
          </a:prstGeom>
          <a:noFill/>
        </p:spPr>
        <p:txBody>
          <a:bodyPr wrap="square" rtlCol="0">
            <a:spAutoFit/>
          </a:bodyPr>
          <a:lstStyle/>
          <a:p>
            <a:r>
              <a:rPr lang="fr-FR" sz="1200" dirty="0"/>
              <a:t>Définition de la variable cible binaire :  </a:t>
            </a:r>
            <a:r>
              <a:rPr lang="fr-FR" sz="1200" dirty="0" err="1"/>
              <a:t>has_claim</a:t>
            </a:r>
            <a:r>
              <a:rPr lang="fr-FR" sz="1200" dirty="0"/>
              <a:t> </a:t>
            </a:r>
          </a:p>
          <a:p>
            <a:r>
              <a:rPr lang="fr-FR" sz="1200" dirty="0"/>
              <a:t>Pourquoi une cible binaire? Trois raisons motivent le passage d’une cible multi classes {0,1,2,3} à une cible binaire {0, 1}  : </a:t>
            </a:r>
            <a:br>
              <a:rPr lang="fr-FR" sz="1200" dirty="0"/>
            </a:br>
            <a:r>
              <a:rPr lang="fr-FR" sz="1200" dirty="0"/>
              <a:t>- Les classes 2 et 3 contiennent respectivement 192 et 16 observations — des effectifs trop faibles pour entraîner des modèles fiables.</a:t>
            </a:r>
          </a:p>
          <a:p>
            <a:pPr marL="171450" indent="-171450">
              <a:buFontTx/>
              <a:buChar char="-"/>
            </a:pPr>
            <a:r>
              <a:rPr lang="fr-FR" sz="1200" dirty="0"/>
              <a:t>La question métier prioritaire est : « cet assuré va-t-il </a:t>
            </a:r>
            <a:r>
              <a:rPr lang="fr-FR" sz="1200" dirty="0" err="1"/>
              <a:t>sinistrer</a:t>
            </a:r>
            <a:r>
              <a:rPr lang="fr-FR" sz="1200" dirty="0"/>
              <a:t>? » plus que « combien de fois? ».</a:t>
            </a:r>
          </a:p>
          <a:p>
            <a:pPr marL="171450" indent="-171450">
              <a:buFontTx/>
              <a:buChar char="-"/>
            </a:pPr>
            <a:r>
              <a:rPr lang="fr-FR" sz="1200" dirty="0"/>
              <a:t>La régression logistique binaire est plus stable et interprétable qu’une régression multinomiale sur des classes très déséquilibrées.</a:t>
            </a:r>
          </a:p>
        </p:txBody>
      </p:sp>
      <p:pic>
        <p:nvPicPr>
          <p:cNvPr id="8" name="Picture 7">
            <a:extLst>
              <a:ext uri="{FF2B5EF4-FFF2-40B4-BE49-F238E27FC236}">
                <a16:creationId xmlns:a16="http://schemas.microsoft.com/office/drawing/2014/main" id="{32E66F63-9365-4AE0-BA3F-85B3492EADB7}"/>
              </a:ext>
            </a:extLst>
          </p:cNvPr>
          <p:cNvPicPr>
            <a:picLocks noChangeAspect="1"/>
          </p:cNvPicPr>
          <p:nvPr/>
        </p:nvPicPr>
        <p:blipFill>
          <a:blip r:embed="rId3"/>
          <a:stretch>
            <a:fillRect/>
          </a:stretch>
        </p:blipFill>
        <p:spPr>
          <a:xfrm>
            <a:off x="533400" y="2705040"/>
            <a:ext cx="7710951" cy="2141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Phase 3 — Traitement du </a:t>
            </a:r>
            <a:r>
              <a:rPr lang="en-US" sz="2200" b="1" dirty="0" err="1">
                <a:solidFill>
                  <a:srgbClr val="0D2137"/>
                </a:solidFill>
                <a:latin typeface="Calibri" pitchFamily="34" charset="0"/>
                <a:ea typeface="Calibri" pitchFamily="34" charset="-122"/>
                <a:cs typeface="Calibri" pitchFamily="34" charset="-120"/>
              </a:rPr>
              <a:t>Déséquilibre</a:t>
            </a:r>
            <a:r>
              <a:rPr lang="en-US" sz="2200" b="1" dirty="0">
                <a:solidFill>
                  <a:srgbClr val="0D2137"/>
                </a:solidFill>
                <a:latin typeface="Calibri" pitchFamily="34" charset="0"/>
                <a:ea typeface="Calibri" pitchFamily="34" charset="-122"/>
                <a:cs typeface="Calibri" pitchFamily="34" charset="-120"/>
              </a:rPr>
              <a:t> ()</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6" name="TextBox 5">
            <a:extLst>
              <a:ext uri="{FF2B5EF4-FFF2-40B4-BE49-F238E27FC236}">
                <a16:creationId xmlns:a16="http://schemas.microsoft.com/office/drawing/2014/main" id="{02A697C3-6D83-EC09-7185-9179ABF70E20}"/>
              </a:ext>
            </a:extLst>
          </p:cNvPr>
          <p:cNvSpPr txBox="1"/>
          <p:nvPr/>
        </p:nvSpPr>
        <p:spPr>
          <a:xfrm>
            <a:off x="895350" y="1059704"/>
            <a:ext cx="7185660" cy="738664"/>
          </a:xfrm>
          <a:prstGeom prst="rect">
            <a:avLst/>
          </a:prstGeom>
          <a:noFill/>
        </p:spPr>
        <p:txBody>
          <a:bodyPr wrap="square" rtlCol="0">
            <a:spAutoFit/>
          </a:bodyPr>
          <a:lstStyle/>
          <a:p>
            <a:r>
              <a:rPr lang="fr-FR" sz="1200" dirty="0"/>
              <a:t>En Phase 2, les modèles linéaires prédisent « pas de sinistre » pour quasiment toutes les observations au seuil 0,5. La raison est simple : avec un ratio 22 :1, minimiser le log-</a:t>
            </a:r>
            <a:r>
              <a:rPr lang="fr-FR" sz="1200" dirty="0" err="1"/>
              <a:t>loss</a:t>
            </a:r>
            <a:r>
              <a:rPr lang="fr-FR" sz="1200" dirty="0"/>
              <a:t> conduit le modèle à concentrer ses probabilités prédites autour de 4% — en dessous du seuil de décision 0,5 pour toutes les observations</a:t>
            </a:r>
            <a:r>
              <a:rPr lang="fr-FR" dirty="0"/>
              <a:t>.</a:t>
            </a:r>
            <a:endParaRPr lang="en-US" dirty="0"/>
          </a:p>
        </p:txBody>
      </p:sp>
      <p:pic>
        <p:nvPicPr>
          <p:cNvPr id="8" name="Picture 7">
            <a:extLst>
              <a:ext uri="{FF2B5EF4-FFF2-40B4-BE49-F238E27FC236}">
                <a16:creationId xmlns:a16="http://schemas.microsoft.com/office/drawing/2014/main" id="{F47243F2-08C3-6D96-2C43-2A1FBBD90903}"/>
              </a:ext>
            </a:extLst>
          </p:cNvPr>
          <p:cNvPicPr>
            <a:picLocks noChangeAspect="1"/>
          </p:cNvPicPr>
          <p:nvPr/>
        </p:nvPicPr>
        <p:blipFill>
          <a:blip r:embed="rId3"/>
          <a:stretch>
            <a:fillRect/>
          </a:stretch>
        </p:blipFill>
        <p:spPr>
          <a:xfrm>
            <a:off x="992998" y="1757551"/>
            <a:ext cx="5512083" cy="1587582"/>
          </a:xfrm>
          <a:prstGeom prst="rect">
            <a:avLst/>
          </a:prstGeom>
        </p:spPr>
      </p:pic>
      <p:pic>
        <p:nvPicPr>
          <p:cNvPr id="10" name="Picture 9">
            <a:extLst>
              <a:ext uri="{FF2B5EF4-FFF2-40B4-BE49-F238E27FC236}">
                <a16:creationId xmlns:a16="http://schemas.microsoft.com/office/drawing/2014/main" id="{94B2CC05-E725-B8D7-4146-68476983655D}"/>
              </a:ext>
            </a:extLst>
          </p:cNvPr>
          <p:cNvPicPr>
            <a:picLocks noChangeAspect="1"/>
          </p:cNvPicPr>
          <p:nvPr/>
        </p:nvPicPr>
        <p:blipFill>
          <a:blip r:embed="rId4"/>
          <a:stretch>
            <a:fillRect/>
          </a:stretch>
        </p:blipFill>
        <p:spPr>
          <a:xfrm>
            <a:off x="992998" y="3526502"/>
            <a:ext cx="5600988" cy="12954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Phase 4 — Évaluation Finale sur le Test Set</a:t>
            </a:r>
            <a:endParaRPr lang="en-US" sz="2200" dirty="0"/>
          </a:p>
        </p:txBody>
      </p:sp>
      <p:sp>
        <p:nvSpPr>
          <p:cNvPr id="4" name="Text 2"/>
          <p:cNvSpPr/>
          <p:nvPr/>
        </p:nvSpPr>
        <p:spPr>
          <a:xfrm>
            <a:off x="411480" y="640080"/>
            <a:ext cx="8321040" cy="274320"/>
          </a:xfrm>
          <a:prstGeom prst="rect">
            <a:avLst/>
          </a:prstGeom>
          <a:noFill/>
          <a:ln/>
        </p:spPr>
        <p:txBody>
          <a:bodyPr wrap="square" lIns="0" tIns="0" rIns="0" bIns="0" rtlCol="0" anchor="ctr"/>
          <a:lstStyle/>
          <a:p>
            <a:r>
              <a:rPr lang="fr-FR" sz="1000" dirty="0">
                <a:solidFill>
                  <a:srgbClr val="002060"/>
                </a:solidFill>
              </a:rPr>
              <a:t>Cette phase correspond à l’évaluation finale des modèles sur un jeu de test totalement inédit, utilisé uniquement pour mesurer leur capacité de généralisation. Aucun ajustement, tuning ou sélection n’y est effectué, toutes les décisions ayant déjà été prises lors des phases de validation précédentes.</a:t>
            </a:r>
            <a:endParaRPr lang="en-US" sz="1000" dirty="0">
              <a:solidFill>
                <a:srgbClr val="002060"/>
              </a:solidFill>
            </a:endParaRPr>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pic>
        <p:nvPicPr>
          <p:cNvPr id="7" name="Picture 6">
            <a:extLst>
              <a:ext uri="{FF2B5EF4-FFF2-40B4-BE49-F238E27FC236}">
                <a16:creationId xmlns:a16="http://schemas.microsoft.com/office/drawing/2014/main" id="{97BCC348-96FD-56CF-371B-3068684546C2}"/>
              </a:ext>
            </a:extLst>
          </p:cNvPr>
          <p:cNvPicPr>
            <a:picLocks noChangeAspect="1"/>
          </p:cNvPicPr>
          <p:nvPr/>
        </p:nvPicPr>
        <p:blipFill>
          <a:blip r:embed="rId3"/>
          <a:stretch>
            <a:fillRect/>
          </a:stretch>
        </p:blipFill>
        <p:spPr>
          <a:xfrm>
            <a:off x="6379144" y="1649667"/>
            <a:ext cx="2129573" cy="922083"/>
          </a:xfrm>
          <a:prstGeom prst="rect">
            <a:avLst/>
          </a:prstGeom>
        </p:spPr>
      </p:pic>
      <p:pic>
        <p:nvPicPr>
          <p:cNvPr id="10" name="Picture 9">
            <a:extLst>
              <a:ext uri="{FF2B5EF4-FFF2-40B4-BE49-F238E27FC236}">
                <a16:creationId xmlns:a16="http://schemas.microsoft.com/office/drawing/2014/main" id="{68F7F6AD-47DB-8BEA-EBB3-C3D0033351A9}"/>
              </a:ext>
            </a:extLst>
          </p:cNvPr>
          <p:cNvPicPr>
            <a:picLocks noChangeAspect="1"/>
          </p:cNvPicPr>
          <p:nvPr/>
        </p:nvPicPr>
        <p:blipFill>
          <a:blip r:embed="rId4"/>
          <a:stretch>
            <a:fillRect/>
          </a:stretch>
        </p:blipFill>
        <p:spPr>
          <a:xfrm>
            <a:off x="6379144" y="2857202"/>
            <a:ext cx="2597215" cy="1197797"/>
          </a:xfrm>
          <a:prstGeom prst="rect">
            <a:avLst/>
          </a:prstGeom>
        </p:spPr>
      </p:pic>
      <p:pic>
        <p:nvPicPr>
          <p:cNvPr id="12" name="Picture 11">
            <a:extLst>
              <a:ext uri="{FF2B5EF4-FFF2-40B4-BE49-F238E27FC236}">
                <a16:creationId xmlns:a16="http://schemas.microsoft.com/office/drawing/2014/main" id="{FA703E31-F63E-F753-4D67-489AA16FA921}"/>
              </a:ext>
            </a:extLst>
          </p:cNvPr>
          <p:cNvPicPr>
            <a:picLocks noChangeAspect="1"/>
          </p:cNvPicPr>
          <p:nvPr/>
        </p:nvPicPr>
        <p:blipFill>
          <a:blip r:embed="rId5"/>
          <a:stretch>
            <a:fillRect/>
          </a:stretch>
        </p:blipFill>
        <p:spPr>
          <a:xfrm>
            <a:off x="381701" y="1267107"/>
            <a:ext cx="5912419" cy="31801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Phases 4–5 — Calibration : Ranking ≠ Probabilités</a:t>
            </a:r>
            <a:endParaRPr lang="en-US" sz="2200" dirty="0"/>
          </a:p>
        </p:txBody>
      </p:sp>
      <p:sp>
        <p:nvSpPr>
          <p:cNvPr id="4" name="Text 2"/>
          <p:cNvSpPr/>
          <p:nvPr/>
        </p:nvSpPr>
        <p:spPr>
          <a:xfrm>
            <a:off x="411480" y="609600"/>
            <a:ext cx="8321040" cy="274320"/>
          </a:xfrm>
          <a:prstGeom prst="rect">
            <a:avLst/>
          </a:prstGeom>
          <a:noFill/>
          <a:ln/>
        </p:spPr>
        <p:txBody>
          <a:bodyPr wrap="square" lIns="0" tIns="0" rIns="0" bIns="0" rtlCol="0" anchor="ctr"/>
          <a:lstStyle/>
          <a:p>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sp>
        <p:nvSpPr>
          <p:cNvPr id="6" name="TextBox 5">
            <a:extLst>
              <a:ext uri="{FF2B5EF4-FFF2-40B4-BE49-F238E27FC236}">
                <a16:creationId xmlns:a16="http://schemas.microsoft.com/office/drawing/2014/main" id="{BCF48881-0862-C194-0233-39C5473F6379}"/>
              </a:ext>
            </a:extLst>
          </p:cNvPr>
          <p:cNvSpPr txBox="1"/>
          <p:nvPr/>
        </p:nvSpPr>
        <p:spPr>
          <a:xfrm>
            <a:off x="335280" y="516750"/>
            <a:ext cx="8397240" cy="507831"/>
          </a:xfrm>
          <a:prstGeom prst="rect">
            <a:avLst/>
          </a:prstGeom>
          <a:noFill/>
        </p:spPr>
        <p:txBody>
          <a:bodyPr wrap="square" rtlCol="0">
            <a:spAutoFit/>
          </a:bodyPr>
          <a:lstStyle/>
          <a:p>
            <a:r>
              <a:rPr lang="fr-FR" sz="900" dirty="0">
                <a:solidFill>
                  <a:srgbClr val="002060"/>
                </a:solidFill>
              </a:rPr>
              <a:t>Pour la tarification actuarielle, ces probabilités sont inutilisables en l’état : une prime pure calculée avec ces probabilités serait surestimée d’un facteur 5, rendant le produit non compétitif sur le marché. Solution : calibration post-hoc. On entraîne une fonction g : [0,1] → [0,1] qui transforme les probabilités brutes en probabilités calibrées, en préservant le </a:t>
            </a:r>
            <a:r>
              <a:rPr lang="fr-FR" sz="900" dirty="0" err="1">
                <a:solidFill>
                  <a:srgbClr val="002060"/>
                </a:solidFill>
              </a:rPr>
              <a:t>ranking</a:t>
            </a:r>
            <a:r>
              <a:rPr lang="fr-FR" sz="900" dirty="0">
                <a:solidFill>
                  <a:srgbClr val="002060"/>
                </a:solidFill>
              </a:rPr>
              <a:t> intact (l’AUC reste donc inchangée).</a:t>
            </a:r>
            <a:endParaRPr lang="en-US" sz="900" dirty="0">
              <a:solidFill>
                <a:srgbClr val="002060"/>
              </a:solidFill>
            </a:endParaRPr>
          </a:p>
        </p:txBody>
      </p:sp>
      <p:pic>
        <p:nvPicPr>
          <p:cNvPr id="8" name="Picture 7">
            <a:extLst>
              <a:ext uri="{FF2B5EF4-FFF2-40B4-BE49-F238E27FC236}">
                <a16:creationId xmlns:a16="http://schemas.microsoft.com/office/drawing/2014/main" id="{72106B63-8D91-C8AD-7F1A-0D5565511EB3}"/>
              </a:ext>
            </a:extLst>
          </p:cNvPr>
          <p:cNvPicPr>
            <a:picLocks noChangeAspect="1"/>
          </p:cNvPicPr>
          <p:nvPr/>
        </p:nvPicPr>
        <p:blipFill>
          <a:blip r:embed="rId3"/>
          <a:srcRect l="5255" t="13299" r="2734" b="7515"/>
          <a:stretch>
            <a:fillRect/>
          </a:stretch>
        </p:blipFill>
        <p:spPr>
          <a:xfrm>
            <a:off x="1501141" y="1129398"/>
            <a:ext cx="5562600" cy="1485901"/>
          </a:xfrm>
          <a:prstGeom prst="rect">
            <a:avLst/>
          </a:prstGeom>
        </p:spPr>
      </p:pic>
      <p:pic>
        <p:nvPicPr>
          <p:cNvPr id="10" name="Picture 9">
            <a:extLst>
              <a:ext uri="{FF2B5EF4-FFF2-40B4-BE49-F238E27FC236}">
                <a16:creationId xmlns:a16="http://schemas.microsoft.com/office/drawing/2014/main" id="{90EA22BF-2453-16AB-09B9-D3711B415D94}"/>
              </a:ext>
            </a:extLst>
          </p:cNvPr>
          <p:cNvPicPr>
            <a:picLocks noChangeAspect="1"/>
          </p:cNvPicPr>
          <p:nvPr/>
        </p:nvPicPr>
        <p:blipFill>
          <a:blip r:embed="rId4"/>
          <a:stretch>
            <a:fillRect/>
          </a:stretch>
        </p:blipFill>
        <p:spPr>
          <a:xfrm>
            <a:off x="1513556" y="2720116"/>
            <a:ext cx="5550185" cy="21019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Phase 6 — Modèles Actuariels Fréquence × Sévérité</a:t>
            </a:r>
            <a:endParaRPr lang="en-US" sz="2200" dirty="0"/>
          </a:p>
        </p:txBody>
      </p:sp>
      <p:sp>
        <p:nvSpPr>
          <p:cNvPr id="4" name="Text 2"/>
          <p:cNvSpPr/>
          <p:nvPr/>
        </p:nvSpPr>
        <p:spPr>
          <a:xfrm>
            <a:off x="411480" y="525780"/>
            <a:ext cx="8321040" cy="502920"/>
          </a:xfrm>
          <a:prstGeom prst="rect">
            <a:avLst/>
          </a:prstGeom>
          <a:noFill/>
          <a:ln/>
        </p:spPr>
        <p:txBody>
          <a:bodyPr wrap="square" lIns="0" tIns="0" rIns="0" bIns="0" rtlCol="0" anchor="ctr"/>
          <a:lstStyle/>
          <a:p>
            <a:r>
              <a:rPr lang="fr-FR" sz="1050" dirty="0">
                <a:solidFill>
                  <a:srgbClr val="002060"/>
                </a:solidFill>
              </a:rPr>
              <a:t>Les Phases 1 à 5 ont abordé la sinistralité sous l’angle d’une classification binaire (</a:t>
            </a:r>
            <a:r>
              <a:rPr lang="fr-FR" sz="1050" dirty="0" err="1">
                <a:solidFill>
                  <a:srgbClr val="002060"/>
                </a:solidFill>
              </a:rPr>
              <a:t>has_claim</a:t>
            </a:r>
            <a:r>
              <a:rPr lang="fr-FR" sz="1050" dirty="0">
                <a:solidFill>
                  <a:srgbClr val="002060"/>
                </a:solidFill>
              </a:rPr>
              <a:t> ∈ {0,1}). Cette phase introduit l’approche actuarielle classique, qui modélise séparément la fréquence et la sévérité des sinistres pour produire directement une prime pure technique.</a:t>
            </a:r>
            <a:endParaRPr lang="en-US" sz="1050" dirty="0">
              <a:solidFill>
                <a:srgbClr val="002060"/>
              </a:solidFill>
            </a:endParaRPr>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pic>
        <p:nvPicPr>
          <p:cNvPr id="7" name="Picture 6">
            <a:extLst>
              <a:ext uri="{FF2B5EF4-FFF2-40B4-BE49-F238E27FC236}">
                <a16:creationId xmlns:a16="http://schemas.microsoft.com/office/drawing/2014/main" id="{98EEC2FA-906C-5AF8-FB0A-70EBEEB7B128}"/>
              </a:ext>
            </a:extLst>
          </p:cNvPr>
          <p:cNvPicPr>
            <a:picLocks noChangeAspect="1"/>
          </p:cNvPicPr>
          <p:nvPr/>
        </p:nvPicPr>
        <p:blipFill>
          <a:blip r:embed="rId3"/>
          <a:stretch>
            <a:fillRect/>
          </a:stretch>
        </p:blipFill>
        <p:spPr>
          <a:xfrm>
            <a:off x="448056" y="1330452"/>
            <a:ext cx="8247887" cy="32379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Phase 7 — Deep Learning : MLP</a:t>
            </a:r>
            <a:endParaRPr lang="en-US" sz="2200" dirty="0"/>
          </a:p>
        </p:txBody>
      </p:sp>
      <p:sp>
        <p:nvSpPr>
          <p:cNvPr id="4" name="Text 2"/>
          <p:cNvSpPr/>
          <p:nvPr/>
        </p:nvSpPr>
        <p:spPr>
          <a:xfrm>
            <a:off x="411480" y="582168"/>
            <a:ext cx="8321040" cy="274320"/>
          </a:xfrm>
          <a:prstGeom prst="rect">
            <a:avLst/>
          </a:prstGeom>
          <a:noFill/>
          <a:ln/>
        </p:spPr>
        <p:txBody>
          <a:bodyPr wrap="square" lIns="0" tIns="0" rIns="0" bIns="0" rtlCol="0" anchor="ctr"/>
          <a:lstStyle/>
          <a:p>
            <a:r>
              <a:rPr lang="fr-FR" sz="1200" dirty="0">
                <a:solidFill>
                  <a:srgbClr val="002060"/>
                </a:solidFill>
              </a:rPr>
              <a:t>Cette phase explore l’apport des réseaux de neurones (MLP — Multi-Layer Perceptron) pour la prédiction de </a:t>
            </a:r>
            <a:r>
              <a:rPr lang="fr-FR" sz="1200" dirty="0" err="1">
                <a:solidFill>
                  <a:srgbClr val="002060"/>
                </a:solidFill>
              </a:rPr>
              <a:t>has_claim</a:t>
            </a:r>
            <a:r>
              <a:rPr lang="fr-FR" sz="1200" dirty="0">
                <a:solidFill>
                  <a:srgbClr val="002060"/>
                </a:solidFill>
              </a:rPr>
              <a:t>.</a:t>
            </a:r>
            <a:br>
              <a:rPr lang="fr-FR" sz="1200" dirty="0">
                <a:solidFill>
                  <a:srgbClr val="002060"/>
                </a:solidFill>
              </a:rPr>
            </a:br>
            <a:r>
              <a:rPr lang="fr-FR" sz="1200" dirty="0">
                <a:solidFill>
                  <a:srgbClr val="002060"/>
                </a:solidFill>
              </a:rPr>
              <a:t>L’objectif est double : — Valider expérimentalement &amp; </a:t>
            </a:r>
            <a:r>
              <a:rPr lang="en-US" sz="1200" dirty="0">
                <a:solidFill>
                  <a:srgbClr val="002060"/>
                </a:solidFill>
              </a:rPr>
              <a:t>Comparer</a:t>
            </a:r>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pic>
        <p:nvPicPr>
          <p:cNvPr id="7" name="Picture 6">
            <a:extLst>
              <a:ext uri="{FF2B5EF4-FFF2-40B4-BE49-F238E27FC236}">
                <a16:creationId xmlns:a16="http://schemas.microsoft.com/office/drawing/2014/main" id="{A1A3BB00-33BE-C16B-3622-B9276332E1B0}"/>
              </a:ext>
            </a:extLst>
          </p:cNvPr>
          <p:cNvPicPr>
            <a:picLocks noChangeAspect="1"/>
          </p:cNvPicPr>
          <p:nvPr/>
        </p:nvPicPr>
        <p:blipFill>
          <a:blip r:embed="rId3"/>
          <a:stretch>
            <a:fillRect/>
          </a:stretch>
        </p:blipFill>
        <p:spPr>
          <a:xfrm>
            <a:off x="411480" y="1082041"/>
            <a:ext cx="5600988" cy="1775459"/>
          </a:xfrm>
          <a:prstGeom prst="rect">
            <a:avLst/>
          </a:prstGeom>
        </p:spPr>
      </p:pic>
      <p:pic>
        <p:nvPicPr>
          <p:cNvPr id="9" name="Picture 8">
            <a:extLst>
              <a:ext uri="{FF2B5EF4-FFF2-40B4-BE49-F238E27FC236}">
                <a16:creationId xmlns:a16="http://schemas.microsoft.com/office/drawing/2014/main" id="{D06217C8-91F0-32EE-6C15-8404EE5E6DD9}"/>
              </a:ext>
            </a:extLst>
          </p:cNvPr>
          <p:cNvPicPr>
            <a:picLocks noChangeAspect="1"/>
          </p:cNvPicPr>
          <p:nvPr/>
        </p:nvPicPr>
        <p:blipFill>
          <a:blip r:embed="rId4"/>
          <a:stretch>
            <a:fillRect/>
          </a:stretch>
        </p:blipFill>
        <p:spPr>
          <a:xfrm>
            <a:off x="440056" y="3063830"/>
            <a:ext cx="5543835" cy="17590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0F5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11480" y="164592"/>
            <a:ext cx="8321040" cy="502920"/>
          </a:xfrm>
          <a:prstGeom prst="rect">
            <a:avLst/>
          </a:prstGeom>
          <a:noFill/>
          <a:ln/>
        </p:spPr>
        <p:txBody>
          <a:bodyPr wrap="square" lIns="0" tIns="0" rIns="0" bIns="0" rtlCol="0" anchor="ctr"/>
          <a:lstStyle/>
          <a:p>
            <a:pPr marL="0" indent="0">
              <a:buNone/>
            </a:pPr>
            <a:r>
              <a:rPr lang="en-US" sz="2200" b="1" dirty="0">
                <a:solidFill>
                  <a:srgbClr val="0D2137"/>
                </a:solidFill>
                <a:latin typeface="Calibri" pitchFamily="34" charset="0"/>
                <a:ea typeface="Calibri" pitchFamily="34" charset="-122"/>
                <a:cs typeface="Calibri" pitchFamily="34" charset="-120"/>
              </a:rPr>
              <a:t>Recommandations Opérationnelles par Cas d'Usage</a:t>
            </a:r>
            <a:endParaRPr lang="en-US" sz="2200" dirty="0"/>
          </a:p>
        </p:txBody>
      </p:sp>
      <p:sp>
        <p:nvSpPr>
          <p:cNvPr id="4" name="Text 2"/>
          <p:cNvSpPr/>
          <p:nvPr/>
        </p:nvSpPr>
        <p:spPr>
          <a:xfrm>
            <a:off x="411480" y="676656"/>
            <a:ext cx="8321040" cy="274320"/>
          </a:xfrm>
          <a:prstGeom prst="rect">
            <a:avLst/>
          </a:prstGeom>
          <a:noFill/>
          <a:ln/>
        </p:spPr>
        <p:txBody>
          <a:bodyPr wrap="square" lIns="0" tIns="0" rIns="0" bIns="0" rtlCol="0" anchor="ctr"/>
          <a:lstStyle/>
          <a:p>
            <a:endParaRPr lang="en-US" sz="1200" dirty="0"/>
          </a:p>
        </p:txBody>
      </p:sp>
      <p:sp>
        <p:nvSpPr>
          <p:cNvPr id="5" name="Shape 3"/>
          <p:cNvSpPr/>
          <p:nvPr/>
        </p:nvSpPr>
        <p:spPr>
          <a:xfrm>
            <a:off x="411480" y="969264"/>
            <a:ext cx="8321040" cy="0"/>
          </a:xfrm>
          <a:prstGeom prst="line">
            <a:avLst/>
          </a:prstGeom>
          <a:noFill/>
          <a:ln w="19050">
            <a:solidFill>
              <a:srgbClr val="0E8C8C"/>
            </a:solidFill>
            <a:prstDash val="solid"/>
          </a:ln>
        </p:spPr>
        <p:txBody>
          <a:bodyPr/>
          <a:lstStyle/>
          <a:p>
            <a:endParaRPr lang="fr-FR" dirty="0"/>
          </a:p>
        </p:txBody>
      </p:sp>
      <p:pic>
        <p:nvPicPr>
          <p:cNvPr id="7" name="Picture 6">
            <a:extLst>
              <a:ext uri="{FF2B5EF4-FFF2-40B4-BE49-F238E27FC236}">
                <a16:creationId xmlns:a16="http://schemas.microsoft.com/office/drawing/2014/main" id="{927845AB-64B2-64EA-6D5E-07583E823123}"/>
              </a:ext>
            </a:extLst>
          </p:cNvPr>
          <p:cNvPicPr>
            <a:picLocks noChangeAspect="1"/>
          </p:cNvPicPr>
          <p:nvPr/>
        </p:nvPicPr>
        <p:blipFill>
          <a:blip r:embed="rId3"/>
          <a:stretch>
            <a:fillRect/>
          </a:stretch>
        </p:blipFill>
        <p:spPr>
          <a:xfrm>
            <a:off x="998220" y="1348737"/>
            <a:ext cx="6834651" cy="28254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8C8C"/>
          </a:solidFill>
          <a:ln w="12700">
            <a:solidFill>
              <a:srgbClr val="0E8C8C"/>
            </a:solidFill>
            <a:prstDash val="solid"/>
          </a:ln>
        </p:spPr>
        <p:txBody>
          <a:bodyPr/>
          <a:lstStyle/>
          <a:p>
            <a:endParaRPr lang="fr-FR" dirty="0"/>
          </a:p>
        </p:txBody>
      </p:sp>
      <p:sp>
        <p:nvSpPr>
          <p:cNvPr id="3" name="Text 1"/>
          <p:cNvSpPr/>
          <p:nvPr/>
        </p:nvSpPr>
        <p:spPr>
          <a:xfrm>
            <a:off x="457200" y="13716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Conclusion  </a:t>
            </a:r>
            <a:endParaRPr lang="en-US" sz="2200" dirty="0"/>
          </a:p>
        </p:txBody>
      </p:sp>
      <p:sp>
        <p:nvSpPr>
          <p:cNvPr id="40" name="Text 38"/>
          <p:cNvSpPr/>
          <p:nvPr/>
        </p:nvSpPr>
        <p:spPr>
          <a:xfrm>
            <a:off x="457200" y="4892040"/>
            <a:ext cx="8229600" cy="201168"/>
          </a:xfrm>
          <a:prstGeom prst="rect">
            <a:avLst/>
          </a:prstGeom>
          <a:noFill/>
          <a:ln/>
        </p:spPr>
        <p:txBody>
          <a:bodyPr wrap="square" lIns="0" tIns="0" rIns="0" bIns="0" rtlCol="0" anchor="ctr"/>
          <a:lstStyle/>
          <a:p>
            <a:pPr marL="0" indent="0" algn="ctr">
              <a:buNone/>
            </a:pPr>
            <a:r>
              <a:rPr lang="en-US" sz="850" dirty="0">
                <a:solidFill>
                  <a:srgbClr val="8499B0"/>
                </a:solidFill>
                <a:latin typeface="Calibri" pitchFamily="34" charset="0"/>
                <a:ea typeface="Calibri" pitchFamily="34" charset="-122"/>
                <a:cs typeface="Calibri" pitchFamily="34" charset="-120"/>
              </a:rPr>
              <a:t>Mars 2026 — Fatoumata / Rami / Eunice</a:t>
            </a:r>
            <a:endParaRPr lang="en-US" sz="850" dirty="0"/>
          </a:p>
        </p:txBody>
      </p:sp>
      <p:pic>
        <p:nvPicPr>
          <p:cNvPr id="5" name="Picture 4">
            <a:extLst>
              <a:ext uri="{FF2B5EF4-FFF2-40B4-BE49-F238E27FC236}">
                <a16:creationId xmlns:a16="http://schemas.microsoft.com/office/drawing/2014/main" id="{8D0128EA-8884-A1F4-D222-802D122BC923}"/>
              </a:ext>
            </a:extLst>
          </p:cNvPr>
          <p:cNvPicPr>
            <a:picLocks noChangeAspect="1"/>
          </p:cNvPicPr>
          <p:nvPr/>
        </p:nvPicPr>
        <p:blipFill>
          <a:blip r:embed="rId3"/>
          <a:stretch>
            <a:fillRect/>
          </a:stretch>
        </p:blipFill>
        <p:spPr>
          <a:xfrm>
            <a:off x="2762849" y="676656"/>
            <a:ext cx="3618302" cy="1727618"/>
          </a:xfrm>
          <a:prstGeom prst="rect">
            <a:avLst/>
          </a:prstGeom>
        </p:spPr>
      </p:pic>
      <p:sp>
        <p:nvSpPr>
          <p:cNvPr id="6" name="TextBox 5">
            <a:extLst>
              <a:ext uri="{FF2B5EF4-FFF2-40B4-BE49-F238E27FC236}">
                <a16:creationId xmlns:a16="http://schemas.microsoft.com/office/drawing/2014/main" id="{91AF53A1-6FE5-CB3F-89DB-D4C6FF217B56}"/>
              </a:ext>
            </a:extLst>
          </p:cNvPr>
          <p:cNvSpPr txBox="1"/>
          <p:nvPr/>
        </p:nvSpPr>
        <p:spPr>
          <a:xfrm>
            <a:off x="685800" y="2456662"/>
            <a:ext cx="8092440" cy="954107"/>
          </a:xfrm>
          <a:prstGeom prst="rect">
            <a:avLst/>
          </a:prstGeom>
          <a:noFill/>
        </p:spPr>
        <p:txBody>
          <a:bodyPr wrap="square" rtlCol="0">
            <a:spAutoFit/>
          </a:bodyPr>
          <a:lstStyle/>
          <a:p>
            <a:r>
              <a:rPr lang="fr-FR" sz="1400" dirty="0">
                <a:solidFill>
                  <a:schemeClr val="bg1"/>
                </a:solidFill>
              </a:rPr>
              <a:t>Cette étude présente certaines limites, notamment l’utilisation d’un </a:t>
            </a:r>
            <a:r>
              <a:rPr lang="fr-FR" sz="1400" dirty="0" err="1">
                <a:solidFill>
                  <a:schemeClr val="bg1"/>
                </a:solidFill>
              </a:rPr>
              <a:t>dataset</a:t>
            </a:r>
            <a:r>
              <a:rPr lang="fr-FR" sz="1400" dirty="0">
                <a:solidFill>
                  <a:schemeClr val="bg1"/>
                </a:solidFill>
              </a:rPr>
              <a:t> synthétique aux relations plus propres qu’un portefeuille réel, l’absence de validation croisée et un réglage limité des hyperparamètres. Ces éléments peuvent réduire la représentativité des résultats et laisser un potentiel d’amélioration des performances des modèles.</a:t>
            </a:r>
            <a:endParaRPr lang="en-US" sz="1400" dirty="0">
              <a:solidFill>
                <a:schemeClr val="bg1"/>
              </a:solidFill>
            </a:endParaRPr>
          </a:p>
        </p:txBody>
      </p:sp>
      <p:sp>
        <p:nvSpPr>
          <p:cNvPr id="7" name="TextBox 6">
            <a:extLst>
              <a:ext uri="{FF2B5EF4-FFF2-40B4-BE49-F238E27FC236}">
                <a16:creationId xmlns:a16="http://schemas.microsoft.com/office/drawing/2014/main" id="{F75240BE-E266-03FC-87A3-9A73080EC1FC}"/>
              </a:ext>
            </a:extLst>
          </p:cNvPr>
          <p:cNvSpPr txBox="1"/>
          <p:nvPr/>
        </p:nvSpPr>
        <p:spPr>
          <a:xfrm>
            <a:off x="647700" y="3566629"/>
            <a:ext cx="8130540" cy="1169551"/>
          </a:xfrm>
          <a:prstGeom prst="rect">
            <a:avLst/>
          </a:prstGeom>
          <a:noFill/>
        </p:spPr>
        <p:txBody>
          <a:bodyPr wrap="square" rtlCol="0">
            <a:spAutoFit/>
          </a:bodyPr>
          <a:lstStyle/>
          <a:p>
            <a:r>
              <a:rPr lang="fr-FR" sz="1400" dirty="0">
                <a:solidFill>
                  <a:schemeClr val="bg1"/>
                </a:solidFill>
              </a:rPr>
              <a:t>Des pistes d’amélioration incluent l’usage des SHAP values pour renforcer l’explicabilité des modèles, l’exploration d’architectures avancées comme </a:t>
            </a:r>
            <a:r>
              <a:rPr lang="fr-FR" sz="1400" dirty="0" err="1">
                <a:solidFill>
                  <a:schemeClr val="bg1"/>
                </a:solidFill>
              </a:rPr>
              <a:t>TabNet</a:t>
            </a:r>
            <a:r>
              <a:rPr lang="fr-FR" sz="1400" dirty="0">
                <a:solidFill>
                  <a:schemeClr val="bg1"/>
                </a:solidFill>
              </a:rPr>
              <a:t>, NODE ou des modèles séquentiels pour les données temporelles, ainsi que l’adoption d’une validation croisée avec tuning bayésien pour plus de robustesse. Enfin, la mise en place d’un monitoring en production permettrait de suivre les dérives de données et de maintenir les performances dans le temps.</a:t>
            </a:r>
            <a:endParaRPr lang="en-US" sz="14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1196</Words>
  <Application>Microsoft Office PowerPoint</Application>
  <PresentationFormat>On-screen Show (16:9)</PresentationFormat>
  <Paragraphs>117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Modélisation des Sinistres UBI</dc:title>
  <dc:subject>PptxGenJS Presentation</dc:subject>
  <dc:creator>Fatoumata / Rami / Eunice</dc:creator>
  <cp:lastModifiedBy>DIALLO FATOUMATA</cp:lastModifiedBy>
  <cp:revision>9</cp:revision>
  <dcterms:created xsi:type="dcterms:W3CDTF">2026-05-27T06:49:58Z</dcterms:created>
  <dcterms:modified xsi:type="dcterms:W3CDTF">2026-05-29T07:23:54Z</dcterms:modified>
</cp:coreProperties>
</file>